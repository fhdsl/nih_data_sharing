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16b04bd80e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16b04bd80e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225dc533c1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225dc533c1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individuals who: are submitting a grant proposal to the NIH, want to determine if a proposal requires compliance with the new policy, want support finding appropriate places to share data, want support writing a data management and sharing plan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89b63805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89b63805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8a76b2f1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8a76b2f1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8a76b2f1a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8a76b2f1a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89d8b14364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89d8b14364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89d8b1436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89d8b1436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8a76b2f1a9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8a76b2f1a9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8a76b2f1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18a76b2f1a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8a76b2f1a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8a76b2f1a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8a76b2f1a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8a76b2f1a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784801ac8b_42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784801ac8b_42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Main topics covered in this course: Introducing the DMS policy, Creating a DMS plan, DMS submission process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784801ac8b_4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1784801ac8b_4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Pathway of more specific topics covered in this course: motivations of the new policy, personal considerations, data storage options, budgeting, creating a DMS plan, submission tips, and post submission tips.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16b04bd80e5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16b04bd80e5_1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first step of the pathway- </a:t>
            </a:r>
            <a:r>
              <a:rPr lang="en"/>
              <a:t>understanding</a:t>
            </a:r>
            <a:r>
              <a:rPr lang="en"/>
              <a:t> the motivations of the policy.</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6b04bd80e5_4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6b04bd80e5_4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second step of the pathway - personal considerations of the policy.</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16b04bd80e5_4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16b04bd80e5_4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third step of the pathway - Data Storage Options.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16b04bd80e5_4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16b04bd80e5_4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are on the fourth step of the pathway- Budgeting.</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6b04bd80e5_4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6b04bd80e5_4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fifth step of the pathway- Creating a DMS plan.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6b04bd80e5_4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6b04bd80e5_4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sixth step of the pathway- Submission.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6b04bd80e5_4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6b04bd80e5_4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are on the final step of our pathway - Post Submission.</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740f4010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740f4010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Scientific data should be shared under the new DMS policy, but there are many scientific products that are not considered scientific data.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1740f40108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1740f40108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Researchers with scientific data must justify why they will not share data with an appropriate exception.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740f40108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740f40108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can find the R03 activity code in the request for applications.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740f401082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1740f401082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can determine if a DMS plan is required using the table here: https://sharing.nih.gov/sites/default/files/List-of-Activity-Codes-Applicable-to-DMS-Policy.pdf</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178800e11b1_15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178800e11b1_1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Costs associated with FAIR principles are generally allowed, while infrastructure and data gathering costs are not.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8159f1730a_6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18159f1730a_6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cell phone with 64GB of storage can fit 1 WGS file, 2 RNA-seq files, 25 imaging files, and thousands of flow cytometry, clinical trial, microscopy, and proteomics files.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8159f1730a_67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8159f1730a_67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interactive table provided by NIH can help you find an appropriate repository.</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8159f1730a_44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8159f1730a_44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NIH prefers you to use the explicitly mentioned repository, followed by a known, FAIR repository, followed by a public generalist repository for data storage.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18159f1730a_67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18159f1730a_67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writing the plan, ensure it is less than 2 pages long, contains no confidential information, and has been planned out carefully, contacting the program officer if necessary.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8159f1730a_67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9" name="Google Shape;609;g18159f1730a_67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DMS plans can be edited during the Just In Time process or during regular reporting intervals, so it's okay if you need to make changes when you learn of better alternatives.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9f8bf18fa1_8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29f8bf18fa1_8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6b04bd80e5_0_4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16b04bd80e5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17be8fdcd95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17be8fdcd95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21c2a6e60cf_3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21c2a6e60cf_3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reativecommons.org/licenses/by/4.0/" TargetMode="External"/><Relationship Id="rId3" Type="http://schemas.openxmlformats.org/officeDocument/2006/relationships/hyperlink" Target="https://creativecommons.org/licenses/by/4.0/" TargetMode="Externa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0" y="490"/>
            <a:ext cx="5153705" cy="5134399"/>
            <a:chOff x="0" y="75"/>
            <a:chExt cx="5153705" cy="5152950"/>
          </a:xfrm>
        </p:grpSpPr>
        <p:sp>
          <p:nvSpPr>
            <p:cNvPr id="11" name="Google Shape;11;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646" y="-75"/>
              <a:ext cx="2299800" cy="23001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flipH="1">
              <a:off x="652821" y="590035"/>
              <a:ext cx="2300100" cy="2299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 name="Google Shape;15;p2"/>
          <p:cNvSpPr/>
          <p:nvPr/>
        </p:nvSpPr>
        <p:spPr>
          <a:xfrm rot="5400000">
            <a:off x="7500300" y="5"/>
            <a:ext cx="1643700" cy="1643700"/>
          </a:xfrm>
          <a:prstGeom prst="diagStripe">
            <a:avLst>
              <a:gd fmla="val 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txBox="1"/>
          <p:nvPr>
            <p:ph type="ctrTitle"/>
          </p:nvPr>
        </p:nvSpPr>
        <p:spPr>
          <a:xfrm>
            <a:off x="3537150" y="1578375"/>
            <a:ext cx="5017500" cy="15789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4100"/>
              <a:buNone/>
              <a:defRPr sz="41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p:txBody>
      </p:sp>
      <p:sp>
        <p:nvSpPr>
          <p:cNvPr id="17" name="Google Shape;17;p2"/>
          <p:cNvSpPr txBox="1"/>
          <p:nvPr>
            <p:ph idx="1" type="subTitle"/>
          </p:nvPr>
        </p:nvSpPr>
        <p:spPr>
          <a:xfrm>
            <a:off x="2997775" y="3033950"/>
            <a:ext cx="5939400" cy="506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434343"/>
              </a:buClr>
              <a:buSzPts val="2800"/>
              <a:buNone/>
              <a:defRPr sz="2800">
                <a:solidFill>
                  <a:srgbClr val="434343"/>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2"/>
          <p:cNvPicPr preferRelativeResize="0"/>
          <p:nvPr/>
        </p:nvPicPr>
        <p:blipFill rotWithShape="1">
          <a:blip r:embed="rId2">
            <a:alphaModFix/>
          </a:blip>
          <a:srcRect b="-4624" l="0" r="-1947" t="0"/>
          <a:stretch/>
        </p:blipFill>
        <p:spPr>
          <a:xfrm>
            <a:off x="7612175" y="4543301"/>
            <a:ext cx="1099126" cy="4973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grpSp>
        <p:nvGrpSpPr>
          <p:cNvPr id="21" name="Google Shape;21;p3"/>
          <p:cNvGrpSpPr/>
          <p:nvPr/>
        </p:nvGrpSpPr>
        <p:grpSpPr>
          <a:xfrm>
            <a:off x="4406400" y="0"/>
            <a:ext cx="4737600" cy="5143065"/>
            <a:chOff x="4406400" y="0"/>
            <a:chExt cx="4737600" cy="5143065"/>
          </a:xfrm>
        </p:grpSpPr>
        <p:sp>
          <p:nvSpPr>
            <p:cNvPr id="22" name="Google Shape;22;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 name="Google Shape;41;p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3"/>
          <p:cNvSpPr txBox="1"/>
          <p:nvPr/>
        </p:nvSpPr>
        <p:spPr>
          <a:xfrm>
            <a:off x="7260225"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4" name="Google Shape;64;p4"/>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4"/>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6" name="Shape 66"/>
        <p:cNvGrpSpPr/>
        <p:nvPr/>
      </p:nvGrpSpPr>
      <p:grpSpPr>
        <a:xfrm>
          <a:off x="0" y="0"/>
          <a:ext cx="0" cy="0"/>
          <a:chOff x="0" y="0"/>
          <a:chExt cx="0" cy="0"/>
        </a:xfrm>
      </p:grpSpPr>
      <p:grpSp>
        <p:nvGrpSpPr>
          <p:cNvPr id="67" name="Google Shape;67;p5"/>
          <p:cNvGrpSpPr/>
          <p:nvPr/>
        </p:nvGrpSpPr>
        <p:grpSpPr>
          <a:xfrm>
            <a:off x="0" y="381001"/>
            <a:ext cx="1037850" cy="1016287"/>
            <a:chOff x="0" y="381001"/>
            <a:chExt cx="1037850" cy="1016287"/>
          </a:xfrm>
        </p:grpSpPr>
        <p:sp>
          <p:nvSpPr>
            <p:cNvPr id="68" name="Google Shape;68;p5"/>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900"/>
              <a:buNone/>
              <a:defRPr sz="2900"/>
            </a:lvl2pPr>
            <a:lvl3pPr lvl="2" rtl="0">
              <a:spcBef>
                <a:spcPts val="0"/>
              </a:spcBef>
              <a:spcAft>
                <a:spcPts val="0"/>
              </a:spcAft>
              <a:buSzPts val="2900"/>
              <a:buNone/>
              <a:defRPr sz="2900"/>
            </a:lvl3pPr>
            <a:lvl4pPr lvl="3" rtl="0">
              <a:spcBef>
                <a:spcPts val="0"/>
              </a:spcBef>
              <a:spcAft>
                <a:spcPts val="0"/>
              </a:spcAft>
              <a:buSzPts val="2900"/>
              <a:buNone/>
              <a:defRPr sz="2900"/>
            </a:lvl4pPr>
            <a:lvl5pPr lvl="4" rtl="0">
              <a:spcBef>
                <a:spcPts val="0"/>
              </a:spcBef>
              <a:spcAft>
                <a:spcPts val="0"/>
              </a:spcAft>
              <a:buSzPts val="2900"/>
              <a:buNone/>
              <a:defRPr sz="2900"/>
            </a:lvl5pPr>
            <a:lvl6pPr lvl="5" rtl="0">
              <a:spcBef>
                <a:spcPts val="0"/>
              </a:spcBef>
              <a:spcAft>
                <a:spcPts val="0"/>
              </a:spcAft>
              <a:buSzPts val="2900"/>
              <a:buNone/>
              <a:defRPr sz="2900"/>
            </a:lvl6pPr>
            <a:lvl7pPr lvl="6" rtl="0">
              <a:spcBef>
                <a:spcPts val="0"/>
              </a:spcBef>
              <a:spcAft>
                <a:spcPts val="0"/>
              </a:spcAft>
              <a:buSzPts val="2900"/>
              <a:buNone/>
              <a:defRPr sz="2900"/>
            </a:lvl7pPr>
            <a:lvl8pPr lvl="7" rtl="0">
              <a:spcBef>
                <a:spcPts val="0"/>
              </a:spcBef>
              <a:spcAft>
                <a:spcPts val="0"/>
              </a:spcAft>
              <a:buSzPts val="2900"/>
              <a:buNone/>
              <a:defRPr sz="2900"/>
            </a:lvl8pPr>
            <a:lvl9pPr lvl="8" rtl="0">
              <a:spcBef>
                <a:spcPts val="0"/>
              </a:spcBef>
              <a:spcAft>
                <a:spcPts val="0"/>
              </a:spcAft>
              <a:buSzPts val="2900"/>
              <a:buNone/>
              <a:defRPr sz="2900"/>
            </a:lvl9pPr>
          </a:lstStyle>
          <a:p/>
        </p:txBody>
      </p:sp>
      <p:sp>
        <p:nvSpPr>
          <p:cNvPr id="71" name="Google Shape;71;p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49250" lvl="0" marL="457200" rtl="0">
              <a:spcBef>
                <a:spcPts val="0"/>
              </a:spcBef>
              <a:spcAft>
                <a:spcPts val="0"/>
              </a:spcAft>
              <a:buSzPts val="1900"/>
              <a:buChar char="●"/>
              <a:defRPr sz="1900"/>
            </a:lvl1pPr>
            <a:lvl2pPr indent="-336550" lvl="1" marL="914400" rtl="0">
              <a:spcBef>
                <a:spcPts val="0"/>
              </a:spcBef>
              <a:spcAft>
                <a:spcPts val="0"/>
              </a:spcAft>
              <a:buSzPts val="1700"/>
              <a:buChar char="○"/>
              <a:defRPr sz="1700"/>
            </a:lvl2pPr>
            <a:lvl3pPr indent="-336550" lvl="2" marL="1371600" rtl="0">
              <a:spcBef>
                <a:spcPts val="0"/>
              </a:spcBef>
              <a:spcAft>
                <a:spcPts val="0"/>
              </a:spcAft>
              <a:buSzPts val="1700"/>
              <a:buChar char="■"/>
              <a:defRPr sz="1700"/>
            </a:lvl3pPr>
            <a:lvl4pPr indent="-336550" lvl="3" marL="1828800" rtl="0">
              <a:spcBef>
                <a:spcPts val="0"/>
              </a:spcBef>
              <a:spcAft>
                <a:spcPts val="0"/>
              </a:spcAft>
              <a:buSzPts val="1700"/>
              <a:buChar char="●"/>
              <a:defRPr sz="1700"/>
            </a:lvl4pPr>
            <a:lvl5pPr indent="-336550" lvl="4" marL="2286000" rtl="0">
              <a:spcBef>
                <a:spcPts val="0"/>
              </a:spcBef>
              <a:spcAft>
                <a:spcPts val="0"/>
              </a:spcAft>
              <a:buSzPts val="1700"/>
              <a:buChar char="○"/>
              <a:defRPr sz="1700"/>
            </a:lvl5pPr>
            <a:lvl6pPr indent="-336550" lvl="5" marL="2743200" rtl="0">
              <a:spcBef>
                <a:spcPts val="0"/>
              </a:spcBef>
              <a:spcAft>
                <a:spcPts val="0"/>
              </a:spcAft>
              <a:buSzPts val="1700"/>
              <a:buChar char="■"/>
              <a:defRPr sz="1700"/>
            </a:lvl6pPr>
            <a:lvl7pPr indent="-336550" lvl="6" marL="3200400" rtl="0">
              <a:spcBef>
                <a:spcPts val="0"/>
              </a:spcBef>
              <a:spcAft>
                <a:spcPts val="0"/>
              </a:spcAft>
              <a:buSzPts val="1700"/>
              <a:buChar char="●"/>
              <a:defRPr sz="1700"/>
            </a:lvl7pPr>
            <a:lvl8pPr indent="-336550" lvl="7" marL="3657600" rtl="0">
              <a:spcBef>
                <a:spcPts val="0"/>
              </a:spcBef>
              <a:spcAft>
                <a:spcPts val="0"/>
              </a:spcAft>
              <a:buSzPts val="1700"/>
              <a:buChar char="○"/>
              <a:defRPr sz="1700"/>
            </a:lvl8pPr>
            <a:lvl9pPr indent="-336550" lvl="8" marL="4114800" rtl="0">
              <a:spcBef>
                <a:spcPts val="0"/>
              </a:spcBef>
              <a:spcAft>
                <a:spcPts val="0"/>
              </a:spcAft>
              <a:buSzPts val="1700"/>
              <a:buChar char="■"/>
              <a:defRPr sz="1700"/>
            </a:lvl9pPr>
          </a:lstStyle>
          <a:p/>
        </p:txBody>
      </p:sp>
      <p:sp>
        <p:nvSpPr>
          <p:cNvPr id="72" name="Google Shape;72;p5"/>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5"/>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 name="Shape 74"/>
        <p:cNvGrpSpPr/>
        <p:nvPr/>
      </p:nvGrpSpPr>
      <p:grpSpPr>
        <a:xfrm>
          <a:off x="0" y="0"/>
          <a:ext cx="0" cy="0"/>
          <a:chOff x="0" y="0"/>
          <a:chExt cx="0" cy="0"/>
        </a:xfrm>
      </p:grpSpPr>
      <p:sp>
        <p:nvSpPr>
          <p:cNvPr id="75" name="Google Shape;75;p6"/>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76" name="Google Shape;76;p6"/>
          <p:cNvSpPr txBox="1"/>
          <p:nvPr/>
        </p:nvSpPr>
        <p:spPr>
          <a:xfrm>
            <a:off x="1409625" y="1455425"/>
            <a:ext cx="3739500" cy="291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Except where otherwise indicated, The contents of this slide presentation are available for use under the </a:t>
            </a:r>
            <a:r>
              <a:rPr lang="en" u="sng">
                <a:solidFill>
                  <a:schemeClr val="hlink"/>
                </a:solidFill>
                <a:latin typeface="Lato"/>
                <a:ea typeface="Lato"/>
                <a:cs typeface="Lato"/>
                <a:sym typeface="Lato"/>
                <a:hlinkClick r:id="rId2"/>
              </a:rPr>
              <a:t>Creative Commons Attribution 4.0 license</a:t>
            </a:r>
            <a:r>
              <a:rPr lang="en">
                <a:latin typeface="Lato"/>
                <a:ea typeface="Lato"/>
                <a:cs typeface="Lato"/>
                <a:sym typeface="Lato"/>
              </a:rPr>
              <a:t>.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You are free to adapt and share the work, but you must give appropriate credit, provide a link to the license, and indicate if changes were made.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b="1" lang="en">
                <a:latin typeface="Lato"/>
                <a:ea typeface="Lato"/>
                <a:cs typeface="Lato"/>
                <a:sym typeface="Lato"/>
              </a:rPr>
              <a:t>Sample attribution: </a:t>
            </a:r>
            <a:r>
              <a:rPr lang="en">
                <a:latin typeface="Lato"/>
                <a:ea typeface="Lato"/>
                <a:cs typeface="Lato"/>
                <a:sym typeface="Lato"/>
              </a:rPr>
              <a:t>[Title of work] by Fred Hutchinson Cancer Center Data Science Lab. </a:t>
            </a:r>
            <a:r>
              <a:rPr lang="en" u="sng">
                <a:solidFill>
                  <a:schemeClr val="hlink"/>
                </a:solidFill>
                <a:latin typeface="Lato"/>
                <a:ea typeface="Lato"/>
                <a:cs typeface="Lato"/>
                <a:sym typeface="Lato"/>
                <a:hlinkClick r:id="rId3"/>
              </a:rPr>
              <a:t>CC-BY 4.0</a:t>
            </a:r>
            <a:endParaRPr>
              <a:latin typeface="Lato"/>
              <a:ea typeface="Lato"/>
              <a:cs typeface="Lato"/>
              <a:sym typeface="Lato"/>
            </a:endParaRPr>
          </a:p>
        </p:txBody>
      </p:sp>
      <p:pic>
        <p:nvPicPr>
          <p:cNvPr id="77" name="Google Shape;77;p6"/>
          <p:cNvPicPr preferRelativeResize="0"/>
          <p:nvPr/>
        </p:nvPicPr>
        <p:blipFill>
          <a:blip r:embed="rId4">
            <a:alphaModFix/>
          </a:blip>
          <a:stretch>
            <a:fillRect/>
          </a:stretch>
        </p:blipFill>
        <p:spPr>
          <a:xfrm>
            <a:off x="5981726" y="2173675"/>
            <a:ext cx="2275450" cy="796150"/>
          </a:xfrm>
          <a:prstGeom prst="rect">
            <a:avLst/>
          </a:prstGeom>
          <a:noFill/>
          <a:ln>
            <a:noFill/>
          </a:ln>
        </p:spPr>
      </p:pic>
      <p:sp>
        <p:nvSpPr>
          <p:cNvPr id="78" name="Google Shape;78;p6"/>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grpSp>
        <p:nvGrpSpPr>
          <p:cNvPr id="79" name="Google Shape;79;p6"/>
          <p:cNvGrpSpPr/>
          <p:nvPr/>
        </p:nvGrpSpPr>
        <p:grpSpPr>
          <a:xfrm>
            <a:off x="0" y="381001"/>
            <a:ext cx="1037850" cy="1016287"/>
            <a:chOff x="0" y="381001"/>
            <a:chExt cx="1037850" cy="1016287"/>
          </a:xfrm>
        </p:grpSpPr>
        <p:sp>
          <p:nvSpPr>
            <p:cNvPr id="80" name="Google Shape;80;p6"/>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2" name="Shape 82"/>
        <p:cNvGrpSpPr/>
        <p:nvPr/>
      </p:nvGrpSpPr>
      <p:grpSpPr>
        <a:xfrm>
          <a:off x="0" y="0"/>
          <a:ext cx="0" cy="0"/>
          <a:chOff x="0" y="0"/>
          <a:chExt cx="0" cy="0"/>
        </a:xfrm>
      </p:grpSpPr>
      <p:sp>
        <p:nvSpPr>
          <p:cNvPr id="83" name="Google Shape;83;p7"/>
          <p:cNvSpPr txBox="1"/>
          <p:nvPr>
            <p:ph type="title"/>
          </p:nvPr>
        </p:nvSpPr>
        <p:spPr>
          <a:xfrm>
            <a:off x="1297500" y="393750"/>
            <a:ext cx="7807200" cy="914100"/>
          </a:xfrm>
          <a:prstGeom prst="rect">
            <a:avLst/>
          </a:prstGeom>
        </p:spPr>
        <p:txBody>
          <a:bodyPr anchorCtr="0" anchor="t" bIns="91425" lIns="91425" spcFirstLastPara="1" rIns="91425" wrap="square" tIns="91425">
            <a:normAutofit/>
          </a:bodyPr>
          <a:lstStyle>
            <a:lvl1pPr lvl="0" rtl="0">
              <a:spcBef>
                <a:spcPts val="0"/>
              </a:spcBef>
              <a:spcAft>
                <a:spcPts val="0"/>
              </a:spcAft>
              <a:buSzPts val="4100"/>
              <a:buNone/>
              <a:defRPr sz="41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84" name="Google Shape;84;p7"/>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7"/>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86" name="Google Shape;86;p7"/>
          <p:cNvGrpSpPr/>
          <p:nvPr/>
        </p:nvGrpSpPr>
        <p:grpSpPr>
          <a:xfrm>
            <a:off x="0" y="381001"/>
            <a:ext cx="1037850" cy="1016287"/>
            <a:chOff x="0" y="381001"/>
            <a:chExt cx="1037850" cy="1016287"/>
          </a:xfrm>
        </p:grpSpPr>
        <p:sp>
          <p:nvSpPr>
            <p:cNvPr id="87" name="Google Shape;87;p7"/>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7"/>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8"/>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rtl="0">
              <a:spcBef>
                <a:spcPts val="0"/>
              </a:spcBef>
              <a:spcAft>
                <a:spcPts val="0"/>
              </a:spcAft>
              <a:buSzPts val="3300"/>
              <a:buNone/>
              <a:defRPr sz="33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8"/>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92" name="Google Shape;92;p8"/>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8"/>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grpSp>
        <p:nvGrpSpPr>
          <p:cNvPr id="94" name="Google Shape;94;p8"/>
          <p:cNvGrpSpPr/>
          <p:nvPr/>
        </p:nvGrpSpPr>
        <p:grpSpPr>
          <a:xfrm>
            <a:off x="0" y="381001"/>
            <a:ext cx="1037850" cy="1016287"/>
            <a:chOff x="0" y="381001"/>
            <a:chExt cx="1037850" cy="1016287"/>
          </a:xfrm>
        </p:grpSpPr>
        <p:sp>
          <p:nvSpPr>
            <p:cNvPr id="95" name="Google Shape;95;p8"/>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7" name="Shape 97"/>
        <p:cNvGrpSpPr/>
        <p:nvPr/>
      </p:nvGrpSpPr>
      <p:grpSpPr>
        <a:xfrm>
          <a:off x="0" y="0"/>
          <a:ext cx="0" cy="0"/>
          <a:chOff x="0" y="0"/>
          <a:chExt cx="0" cy="0"/>
        </a:xfrm>
      </p:grpSpPr>
      <p:grpSp>
        <p:nvGrpSpPr>
          <p:cNvPr id="98" name="Google Shape;98;p9"/>
          <p:cNvGrpSpPr/>
          <p:nvPr/>
        </p:nvGrpSpPr>
        <p:grpSpPr>
          <a:xfrm>
            <a:off x="4406400" y="0"/>
            <a:ext cx="4737600" cy="5143500"/>
            <a:chOff x="4406400" y="0"/>
            <a:chExt cx="4737600" cy="5143500"/>
          </a:xfrm>
        </p:grpSpPr>
        <p:sp>
          <p:nvSpPr>
            <p:cNvPr id="99" name="Google Shape;99;p9"/>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9"/>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9"/>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9"/>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9"/>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
            <p:cNvSpPr/>
            <p:nvPr/>
          </p:nvSpPr>
          <p:spPr>
            <a:xfrm flipH="1">
              <a:off x="6908099" y="2069680"/>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rot="-5400000">
              <a:off x="7227414" y="3711189"/>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9"/>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9"/>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 name="Google Shape;117;p9"/>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9"/>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9"/>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0" name="Shape 120"/>
        <p:cNvGrpSpPr/>
        <p:nvPr/>
      </p:nvGrpSpPr>
      <p:grpSpPr>
        <a:xfrm>
          <a:off x="0" y="0"/>
          <a:ext cx="0" cy="0"/>
          <a:chOff x="0" y="0"/>
          <a:chExt cx="0" cy="0"/>
        </a:xfrm>
      </p:grpSpPr>
      <p:sp>
        <p:nvSpPr>
          <p:cNvPr id="121" name="Google Shape;121;p10"/>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rtl="0">
              <a:spcBef>
                <a:spcPts val="0"/>
              </a:spcBef>
              <a:spcAft>
                <a:spcPts val="0"/>
              </a:spcAft>
              <a:buSzPts val="2900"/>
              <a:buNone/>
              <a:defRPr sz="29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2" name="Google Shape;122;p10"/>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Clr>
                <a:srgbClr val="666666"/>
              </a:buClr>
              <a:buSzPts val="1800"/>
              <a:buNone/>
              <a:defRPr sz="1800">
                <a:solidFill>
                  <a:srgbClr val="666666"/>
                </a:solidFill>
              </a:defRPr>
            </a:lvl1pPr>
            <a:lvl2pPr lvl="1" rtl="0">
              <a:lnSpc>
                <a:spcPct val="100000"/>
              </a:lnSpc>
              <a:spcBef>
                <a:spcPts val="0"/>
              </a:spcBef>
              <a:spcAft>
                <a:spcPts val="0"/>
              </a:spcAft>
              <a:buSzPts val="1300"/>
              <a:buNone/>
              <a:defRPr sz="1300"/>
            </a:lvl2pPr>
            <a:lvl3pPr lvl="2" rtl="0">
              <a:lnSpc>
                <a:spcPct val="100000"/>
              </a:lnSpc>
              <a:spcBef>
                <a:spcPts val="0"/>
              </a:spcBef>
              <a:spcAft>
                <a:spcPts val="0"/>
              </a:spcAft>
              <a:buSzPts val="1300"/>
              <a:buNone/>
              <a:defRPr sz="1300"/>
            </a:lvl3pPr>
            <a:lvl4pPr lvl="3" rtl="0">
              <a:lnSpc>
                <a:spcPct val="100000"/>
              </a:lnSpc>
              <a:spcBef>
                <a:spcPts val="0"/>
              </a:spcBef>
              <a:spcAft>
                <a:spcPts val="0"/>
              </a:spcAft>
              <a:buSzPts val="1300"/>
              <a:buNone/>
              <a:defRPr sz="1300"/>
            </a:lvl4pPr>
            <a:lvl5pPr lvl="4" rtl="0">
              <a:lnSpc>
                <a:spcPct val="100000"/>
              </a:lnSpc>
              <a:spcBef>
                <a:spcPts val="0"/>
              </a:spcBef>
              <a:spcAft>
                <a:spcPts val="0"/>
              </a:spcAft>
              <a:buSzPts val="1300"/>
              <a:buNone/>
              <a:defRPr sz="1300"/>
            </a:lvl5pPr>
            <a:lvl6pPr lvl="5" rtl="0">
              <a:lnSpc>
                <a:spcPct val="100000"/>
              </a:lnSpc>
              <a:spcBef>
                <a:spcPts val="0"/>
              </a:spcBef>
              <a:spcAft>
                <a:spcPts val="0"/>
              </a:spcAft>
              <a:buSzPts val="1300"/>
              <a:buNone/>
              <a:defRPr sz="1300"/>
            </a:lvl6pPr>
            <a:lvl7pPr lvl="6" rtl="0">
              <a:lnSpc>
                <a:spcPct val="100000"/>
              </a:lnSpc>
              <a:spcBef>
                <a:spcPts val="0"/>
              </a:spcBef>
              <a:spcAft>
                <a:spcPts val="0"/>
              </a:spcAft>
              <a:buSzPts val="1300"/>
              <a:buNone/>
              <a:defRPr sz="1300"/>
            </a:lvl7pPr>
            <a:lvl8pPr lvl="7" rtl="0">
              <a:lnSpc>
                <a:spcPct val="100000"/>
              </a:lnSpc>
              <a:spcBef>
                <a:spcPts val="0"/>
              </a:spcBef>
              <a:spcAft>
                <a:spcPts val="0"/>
              </a:spcAft>
              <a:buSzPts val="1300"/>
              <a:buNone/>
              <a:defRPr sz="1300"/>
            </a:lvl8pPr>
            <a:lvl9pPr lvl="8" rtl="0">
              <a:lnSpc>
                <a:spcPct val="100000"/>
              </a:lnSpc>
              <a:spcBef>
                <a:spcPts val="0"/>
              </a:spcBef>
              <a:spcAft>
                <a:spcPts val="0"/>
              </a:spcAft>
              <a:buSzPts val="1300"/>
              <a:buNone/>
              <a:defRPr sz="1300"/>
            </a:lvl9pPr>
          </a:lstStyle>
          <a:p/>
        </p:txBody>
      </p:sp>
      <p:sp>
        <p:nvSpPr>
          <p:cNvPr id="123" name="Google Shape;123;p10"/>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36550" lvl="0" marL="457200" rtl="0">
              <a:spcBef>
                <a:spcPts val="0"/>
              </a:spcBef>
              <a:spcAft>
                <a:spcPts val="0"/>
              </a:spcAft>
              <a:buSzPts val="1700"/>
              <a:buChar char="●"/>
              <a:defRPr sz="17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grpSp>
        <p:nvGrpSpPr>
          <p:cNvPr id="124" name="Google Shape;124;p10"/>
          <p:cNvGrpSpPr/>
          <p:nvPr/>
        </p:nvGrpSpPr>
        <p:grpSpPr>
          <a:xfrm>
            <a:off x="0" y="381001"/>
            <a:ext cx="1037850" cy="1016287"/>
            <a:chOff x="0" y="381001"/>
            <a:chExt cx="1037850" cy="1016287"/>
          </a:xfrm>
        </p:grpSpPr>
        <p:sp>
          <p:nvSpPr>
            <p:cNvPr id="125" name="Google Shape;125;p10"/>
            <p:cNvSpPr/>
            <p:nvPr/>
          </p:nvSpPr>
          <p:spPr>
            <a:xfrm rot="-5400000">
              <a:off x="0" y="381001"/>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p:cNvSpPr/>
            <p:nvPr/>
          </p:nvSpPr>
          <p:spPr>
            <a:xfrm flipH="1">
              <a:off x="229050" y="5884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7" name="Shape 127"/>
        <p:cNvGrpSpPr/>
        <p:nvPr/>
      </p:nvGrpSpPr>
      <p:grpSpPr>
        <a:xfrm>
          <a:off x="0" y="0"/>
          <a:ext cx="0" cy="0"/>
          <a:chOff x="0" y="0"/>
          <a:chExt cx="0" cy="0"/>
        </a:xfrm>
      </p:grpSpPr>
      <p:grpSp>
        <p:nvGrpSpPr>
          <p:cNvPr id="128" name="Google Shape;128;p11"/>
          <p:cNvGrpSpPr/>
          <p:nvPr/>
        </p:nvGrpSpPr>
        <p:grpSpPr>
          <a:xfrm>
            <a:off x="43237" y="4724428"/>
            <a:ext cx="428721" cy="393609"/>
            <a:chOff x="0" y="3785672"/>
            <a:chExt cx="698925" cy="684657"/>
          </a:xfrm>
        </p:grpSpPr>
        <p:sp>
          <p:nvSpPr>
            <p:cNvPr id="129" name="Google Shape;129;p11"/>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11"/>
          <p:cNvSpPr txBox="1"/>
          <p:nvPr>
            <p:ph idx="1" type="body"/>
          </p:nvPr>
        </p:nvSpPr>
        <p:spPr>
          <a:xfrm>
            <a:off x="418425" y="4674325"/>
            <a:ext cx="6936000" cy="523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900"/>
              <a:buNone/>
              <a:defRPr sz="900"/>
            </a:lvl1pPr>
          </a:lstStyle>
          <a:p/>
        </p:txBody>
      </p:sp>
      <p:sp>
        <p:nvSpPr>
          <p:cNvPr id="132" name="Google Shape;132;p11"/>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3" name="Google Shape;133;p11"/>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grpSp>
        <p:nvGrpSpPr>
          <p:cNvPr id="135" name="Google Shape;135;p12"/>
          <p:cNvGrpSpPr/>
          <p:nvPr/>
        </p:nvGrpSpPr>
        <p:grpSpPr>
          <a:xfrm>
            <a:off x="4406400" y="0"/>
            <a:ext cx="4737600" cy="5143065"/>
            <a:chOff x="4406400" y="0"/>
            <a:chExt cx="4737600" cy="5143065"/>
          </a:xfrm>
        </p:grpSpPr>
        <p:sp>
          <p:nvSpPr>
            <p:cNvPr id="136" name="Google Shape;136;p12"/>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2"/>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2"/>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2"/>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2"/>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2"/>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2"/>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2"/>
            <p:cNvSpPr/>
            <p:nvPr/>
          </p:nvSpPr>
          <p:spPr>
            <a:xfrm flipH="1">
              <a:off x="6908099" y="2069505"/>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2"/>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2"/>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2"/>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
            <p:cNvSpPr/>
            <p:nvPr/>
          </p:nvSpPr>
          <p:spPr>
            <a:xfrm rot="-5400000">
              <a:off x="7227414" y="3710807"/>
              <a:ext cx="808800" cy="808800"/>
            </a:xfrm>
            <a:prstGeom prst="diagStripe">
              <a:avLst>
                <a:gd fmla="val 50000" name="adj"/>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2"/>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2"/>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4" name="Google Shape;154;p12"/>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a:r>
              <a:t>xx%</a:t>
            </a:r>
          </a:p>
        </p:txBody>
      </p:sp>
      <p:sp>
        <p:nvSpPr>
          <p:cNvPr id="155" name="Google Shape;155;p12"/>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rtl="0">
              <a:spcBef>
                <a:spcPts val="0"/>
              </a:spcBef>
              <a:spcAft>
                <a:spcPts val="0"/>
              </a:spcAft>
              <a:buSzPts val="1300"/>
              <a:buChar char="●"/>
              <a:defRPr/>
            </a:lvl1pPr>
            <a:lvl2pPr indent="-298450" lvl="1" marL="914400" rtl="0">
              <a:spcBef>
                <a:spcPts val="0"/>
              </a:spcBef>
              <a:spcAft>
                <a:spcPts val="0"/>
              </a:spcAft>
              <a:buSzPts val="1100"/>
              <a:buChar char="○"/>
              <a:defRPr/>
            </a:lvl2pPr>
            <a:lvl3pPr indent="-298450" lvl="2" marL="1371600" rtl="0">
              <a:spcBef>
                <a:spcPts val="0"/>
              </a:spcBef>
              <a:spcAft>
                <a:spcPts val="0"/>
              </a:spcAft>
              <a:buSzPts val="1100"/>
              <a:buChar char="■"/>
              <a:defRPr/>
            </a:lvl3pPr>
            <a:lvl4pPr indent="-298450" lvl="3" marL="1828800" rtl="0">
              <a:spcBef>
                <a:spcPts val="0"/>
              </a:spcBef>
              <a:spcAft>
                <a:spcPts val="0"/>
              </a:spcAft>
              <a:buSzPts val="1100"/>
              <a:buChar char="●"/>
              <a:defRPr/>
            </a:lvl4pPr>
            <a:lvl5pPr indent="-298450" lvl="4" marL="2286000" rtl="0">
              <a:spcBef>
                <a:spcPts val="0"/>
              </a:spcBef>
              <a:spcAft>
                <a:spcPts val="0"/>
              </a:spcAft>
              <a:buSzPts val="1100"/>
              <a:buChar char="○"/>
              <a:defRPr/>
            </a:lvl5pPr>
            <a:lvl6pPr indent="-298450" lvl="5" marL="2743200" rtl="0">
              <a:spcBef>
                <a:spcPts val="0"/>
              </a:spcBef>
              <a:spcAft>
                <a:spcPts val="0"/>
              </a:spcAft>
              <a:buSzPts val="1100"/>
              <a:buChar char="■"/>
              <a:defRPr/>
            </a:lvl6pPr>
            <a:lvl7pPr indent="-298450" lvl="6" marL="3200400" rtl="0">
              <a:spcBef>
                <a:spcPts val="0"/>
              </a:spcBef>
              <a:spcAft>
                <a:spcPts val="0"/>
              </a:spcAft>
              <a:buSzPts val="1100"/>
              <a:buChar char="●"/>
              <a:defRPr/>
            </a:lvl7pPr>
            <a:lvl8pPr indent="-298450" lvl="7" marL="3657600" rtl="0">
              <a:spcBef>
                <a:spcPts val="0"/>
              </a:spcBef>
              <a:spcAft>
                <a:spcPts val="0"/>
              </a:spcAft>
              <a:buSzPts val="1100"/>
              <a:buChar char="○"/>
              <a:defRPr/>
            </a:lvl8pPr>
            <a:lvl9pPr indent="-298450" lvl="8" marL="4114800" rtl="0">
              <a:spcBef>
                <a:spcPts val="0"/>
              </a:spcBef>
              <a:spcAft>
                <a:spcPts val="0"/>
              </a:spcAft>
              <a:buSzPts val="1100"/>
              <a:buChar char="■"/>
              <a:defRPr/>
            </a:lvl9pPr>
          </a:lstStyle>
          <a:p/>
        </p:txBody>
      </p:sp>
      <p:sp>
        <p:nvSpPr>
          <p:cNvPr id="156" name="Google Shape;156;p12"/>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57" name="Google Shape;157;p12"/>
          <p:cNvSpPr txBox="1"/>
          <p:nvPr/>
        </p:nvSpPr>
        <p:spPr>
          <a:xfrm>
            <a:off x="6994000"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8" name="Shape 158"/>
        <p:cNvGrpSpPr/>
        <p:nvPr/>
      </p:nvGrpSpPr>
      <p:grpSpPr>
        <a:xfrm>
          <a:off x="0" y="0"/>
          <a:ext cx="0" cy="0"/>
          <a:chOff x="0" y="0"/>
          <a:chExt cx="0" cy="0"/>
        </a:xfrm>
      </p:grpSpPr>
      <p:sp>
        <p:nvSpPr>
          <p:cNvPr id="159" name="Google Shape;159;p13"/>
          <p:cNvSpPr txBox="1"/>
          <p:nvPr>
            <p:ph idx="12" type="sldNum"/>
          </p:nvPr>
        </p:nvSpPr>
        <p:spPr>
          <a:xfrm>
            <a:off x="8548658" y="47394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0" name="Google Shape;160;p13"/>
          <p:cNvSpPr txBox="1"/>
          <p:nvPr/>
        </p:nvSpPr>
        <p:spPr>
          <a:xfrm>
            <a:off x="7264925" y="4766875"/>
            <a:ext cx="1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CC-by hutchdatascience.org</a:t>
            </a:r>
            <a:endParaRPr sz="1000">
              <a:latin typeface="Lato"/>
              <a:ea typeface="Lato"/>
              <a:cs typeface="Lato"/>
              <a:sym typeface="La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rt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rtl="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rtl="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lt1"/>
                </a:solidFill>
                <a:latin typeface="Lato"/>
                <a:ea typeface="Lato"/>
                <a:cs typeface="Lato"/>
                <a:sym typeface="Lato"/>
              </a:defRPr>
            </a:lvl1pPr>
            <a:lvl2pPr lvl="1" rtl="0" algn="r">
              <a:buNone/>
              <a:defRPr sz="1000">
                <a:solidFill>
                  <a:schemeClr val="lt1"/>
                </a:solidFill>
                <a:latin typeface="Lato"/>
                <a:ea typeface="Lato"/>
                <a:cs typeface="Lato"/>
                <a:sym typeface="Lato"/>
              </a:defRPr>
            </a:lvl2pPr>
            <a:lvl3pPr lvl="2" rtl="0" algn="r">
              <a:buNone/>
              <a:defRPr sz="1000">
                <a:solidFill>
                  <a:schemeClr val="lt1"/>
                </a:solidFill>
                <a:latin typeface="Lato"/>
                <a:ea typeface="Lato"/>
                <a:cs typeface="Lato"/>
                <a:sym typeface="Lato"/>
              </a:defRPr>
            </a:lvl3pPr>
            <a:lvl4pPr lvl="3" rtl="0" algn="r">
              <a:buNone/>
              <a:defRPr sz="1000">
                <a:solidFill>
                  <a:schemeClr val="lt1"/>
                </a:solidFill>
                <a:latin typeface="Lato"/>
                <a:ea typeface="Lato"/>
                <a:cs typeface="Lato"/>
                <a:sym typeface="Lato"/>
              </a:defRPr>
            </a:lvl4pPr>
            <a:lvl5pPr lvl="4" rtl="0" algn="r">
              <a:buNone/>
              <a:defRPr sz="1000">
                <a:solidFill>
                  <a:schemeClr val="lt1"/>
                </a:solidFill>
                <a:latin typeface="Lato"/>
                <a:ea typeface="Lato"/>
                <a:cs typeface="Lato"/>
                <a:sym typeface="Lato"/>
              </a:defRPr>
            </a:lvl5pPr>
            <a:lvl6pPr lvl="5" rtl="0" algn="r">
              <a:buNone/>
              <a:defRPr sz="1000">
                <a:solidFill>
                  <a:schemeClr val="lt1"/>
                </a:solidFill>
                <a:latin typeface="Lato"/>
                <a:ea typeface="Lato"/>
                <a:cs typeface="Lato"/>
                <a:sym typeface="Lato"/>
              </a:defRPr>
            </a:lvl6pPr>
            <a:lvl7pPr lvl="6" rtl="0" algn="r">
              <a:buNone/>
              <a:defRPr sz="1000">
                <a:solidFill>
                  <a:schemeClr val="lt1"/>
                </a:solidFill>
                <a:latin typeface="Lato"/>
                <a:ea typeface="Lato"/>
                <a:cs typeface="Lato"/>
                <a:sym typeface="Lato"/>
              </a:defRPr>
            </a:lvl7pPr>
            <a:lvl8pPr lvl="7" rtl="0" algn="r">
              <a:buNone/>
              <a:defRPr sz="1000">
                <a:solidFill>
                  <a:schemeClr val="lt1"/>
                </a:solidFill>
                <a:latin typeface="Lato"/>
                <a:ea typeface="Lato"/>
                <a:cs typeface="Lato"/>
                <a:sym typeface="Lato"/>
              </a:defRPr>
            </a:lvl8pPr>
            <a:lvl9pPr lvl="8" rtl="0"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7.png"/><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png"/><Relationship Id="rId4" Type="http://schemas.openxmlformats.org/officeDocument/2006/relationships/image" Target="../media/image12.png"/><Relationship Id="rId9" Type="http://schemas.openxmlformats.org/officeDocument/2006/relationships/image" Target="../media/image14.png"/><Relationship Id="rId5" Type="http://schemas.openxmlformats.org/officeDocument/2006/relationships/image" Target="../media/image11.png"/><Relationship Id="rId6" Type="http://schemas.openxmlformats.org/officeDocument/2006/relationships/image" Target="../media/image21.png"/><Relationship Id="rId7" Type="http://schemas.openxmlformats.org/officeDocument/2006/relationships/image" Target="../media/image2.png"/><Relationship Id="rId8"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14.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12.png"/><Relationship Id="rId9" Type="http://schemas.openxmlformats.org/officeDocument/2006/relationships/image" Target="../media/image27.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11.png"/><Relationship Id="rId5" Type="http://schemas.openxmlformats.org/officeDocument/2006/relationships/image" Target="../media/image31.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0.png"/><Relationship Id="rId4" Type="http://schemas.openxmlformats.org/officeDocument/2006/relationships/image" Target="../media/image23.png"/><Relationship Id="rId9" Type="http://schemas.openxmlformats.org/officeDocument/2006/relationships/image" Target="../media/image8.png"/><Relationship Id="rId5" Type="http://schemas.openxmlformats.org/officeDocument/2006/relationships/image" Target="../media/image31.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7.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8.png"/><Relationship Id="rId8"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31.png"/><Relationship Id="rId7" Type="http://schemas.openxmlformats.org/officeDocument/2006/relationships/image" Target="../media/image29.png"/><Relationship Id="rId8"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2.png"/><Relationship Id="rId4" Type="http://schemas.openxmlformats.org/officeDocument/2006/relationships/image" Target="../media/image20.png"/><Relationship Id="rId9"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33.png"/><Relationship Id="rId4" Type="http://schemas.openxmlformats.org/officeDocument/2006/relationships/image" Target="../media/image36.png"/><Relationship Id="rId9" Type="http://schemas.openxmlformats.org/officeDocument/2006/relationships/image" Target="../media/image43.png"/><Relationship Id="rId5" Type="http://schemas.openxmlformats.org/officeDocument/2006/relationships/image" Target="../media/image32.png"/><Relationship Id="rId6" Type="http://schemas.openxmlformats.org/officeDocument/2006/relationships/image" Target="../media/image34.png"/><Relationship Id="rId7" Type="http://schemas.openxmlformats.org/officeDocument/2006/relationships/image" Target="../media/image44.png"/><Relationship Id="rId8"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33.png"/><Relationship Id="rId4" Type="http://schemas.openxmlformats.org/officeDocument/2006/relationships/image" Target="../media/image36.png"/><Relationship Id="rId5" Type="http://schemas.openxmlformats.org/officeDocument/2006/relationships/image" Target="../media/image45.png"/><Relationship Id="rId6" Type="http://schemas.openxmlformats.org/officeDocument/2006/relationships/image" Target="../media/image35.png"/><Relationship Id="rId7" Type="http://schemas.openxmlformats.org/officeDocument/2006/relationships/image" Target="../media/image47.png"/><Relationship Id="rId8"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5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5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image" Target="../media/image50.png"/><Relationship Id="rId5" Type="http://schemas.openxmlformats.org/officeDocument/2006/relationships/image" Target="../media/image40.png"/><Relationship Id="rId6" Type="http://schemas.openxmlformats.org/officeDocument/2006/relationships/image" Target="../media/image42.png"/><Relationship Id="rId7" Type="http://schemas.openxmlformats.org/officeDocument/2006/relationships/image" Target="../media/image48.png"/><Relationship Id="rId8" Type="http://schemas.openxmlformats.org/officeDocument/2006/relationships/image" Target="../media/image4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5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51.png"/><Relationship Id="rId4" Type="http://schemas.openxmlformats.org/officeDocument/2006/relationships/image" Target="../media/image49.png"/><Relationship Id="rId5" Type="http://schemas.openxmlformats.org/officeDocument/2006/relationships/image" Target="../media/image5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56.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 Id="rId3" Type="http://schemas.openxmlformats.org/officeDocument/2006/relationships/image" Target="../media/image5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5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4"/>
          <p:cNvSpPr txBox="1"/>
          <p:nvPr>
            <p:ph type="ctrTitle"/>
          </p:nvPr>
        </p:nvSpPr>
        <p:spPr>
          <a:xfrm>
            <a:off x="3537150" y="1578375"/>
            <a:ext cx="5017500" cy="15789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NIH Data Management And Sharing Policy 2023</a:t>
            </a:r>
            <a:endParaRPr/>
          </a:p>
        </p:txBody>
      </p:sp>
      <p:sp>
        <p:nvSpPr>
          <p:cNvPr id="166" name="Google Shape;166;p14"/>
          <p:cNvSpPr txBox="1"/>
          <p:nvPr>
            <p:ph idx="1" type="subTitle"/>
          </p:nvPr>
        </p:nvSpPr>
        <p:spPr>
          <a:xfrm>
            <a:off x="2956575" y="3569400"/>
            <a:ext cx="5939400" cy="5061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1297500" y="393750"/>
            <a:ext cx="77238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Terms of Use</a:t>
            </a:r>
            <a:endParaRPr/>
          </a:p>
        </p:txBody>
      </p:sp>
      <p:pic>
        <p:nvPicPr>
          <p:cNvPr id="172" name="Google Shape;172;p15"/>
          <p:cNvPicPr preferRelativeResize="0"/>
          <p:nvPr/>
        </p:nvPicPr>
        <p:blipFill>
          <a:blip r:embed="rId3">
            <a:alphaModFix/>
          </a:blip>
          <a:stretch>
            <a:fillRect/>
          </a:stretch>
        </p:blipFill>
        <p:spPr>
          <a:xfrm>
            <a:off x="5981726" y="2173675"/>
            <a:ext cx="2275450" cy="7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6"/>
          <p:cNvSpPr txBox="1"/>
          <p:nvPr/>
        </p:nvSpPr>
        <p:spPr>
          <a:xfrm>
            <a:off x="1081425" y="534975"/>
            <a:ext cx="5582700" cy="417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latin typeface="Roboto"/>
                <a:ea typeface="Roboto"/>
                <a:cs typeface="Roboto"/>
                <a:sym typeface="Roboto"/>
              </a:rPr>
              <a:t>For individuals who:   </a:t>
            </a:r>
            <a:endParaRPr b="1" sz="2200">
              <a:latin typeface="Roboto"/>
              <a:ea typeface="Roboto"/>
              <a:cs typeface="Roboto"/>
              <a:sym typeface="Roboto"/>
            </a:endParaRPr>
          </a:p>
          <a:p>
            <a:pPr indent="0" lvl="0" marL="165100" rtl="0" algn="l">
              <a:spcBef>
                <a:spcPts val="0"/>
              </a:spcBef>
              <a:spcAft>
                <a:spcPts val="0"/>
              </a:spcAft>
              <a:buNone/>
            </a:pPr>
            <a:r>
              <a:t/>
            </a:r>
            <a:endParaRPr sz="1700">
              <a:latin typeface="Roboto"/>
              <a:ea typeface="Roboto"/>
              <a:cs typeface="Roboto"/>
              <a:sym typeface="Roboto"/>
            </a:endParaRPr>
          </a:p>
          <a:p>
            <a:pPr indent="-205316" lvl="0" marL="165100" rtl="0" algn="l">
              <a:spcBef>
                <a:spcPts val="0"/>
              </a:spcBef>
              <a:spcAft>
                <a:spcPts val="0"/>
              </a:spcAft>
              <a:buClr>
                <a:srgbClr val="000000"/>
              </a:buClr>
              <a:buSzPts val="2033"/>
              <a:buFont typeface="Roboto"/>
              <a:buChar char="●"/>
            </a:pPr>
            <a:r>
              <a:rPr lang="en" sz="2033">
                <a:latin typeface="Roboto"/>
                <a:ea typeface="Roboto"/>
                <a:cs typeface="Roboto"/>
                <a:sym typeface="Roboto"/>
              </a:rPr>
              <a:t>Are submitting a grant proposal to the NIH </a:t>
            </a:r>
            <a:r>
              <a:rPr lang="en" sz="2033">
                <a:latin typeface="Roboto"/>
                <a:ea typeface="Roboto"/>
                <a:cs typeface="Roboto"/>
                <a:sym typeface="Roboto"/>
              </a:rPr>
              <a:t>  </a:t>
            </a:r>
            <a:endParaRPr sz="2033">
              <a:latin typeface="Roboto"/>
              <a:ea typeface="Roboto"/>
              <a:cs typeface="Roboto"/>
              <a:sym typeface="Roboto"/>
            </a:endParaRPr>
          </a:p>
          <a:p>
            <a:pPr indent="0" lvl="0" marL="165100" rtl="0" algn="l">
              <a:spcBef>
                <a:spcPts val="0"/>
              </a:spcBef>
              <a:spcAft>
                <a:spcPts val="0"/>
              </a:spcAft>
              <a:buNone/>
            </a:pPr>
            <a:r>
              <a:t/>
            </a:r>
            <a:endParaRPr sz="2033">
              <a:latin typeface="Roboto"/>
              <a:ea typeface="Roboto"/>
              <a:cs typeface="Roboto"/>
              <a:sym typeface="Roboto"/>
            </a:endParaRPr>
          </a:p>
          <a:p>
            <a:pPr indent="-205316" lvl="0" marL="165100" rtl="0" algn="l">
              <a:spcBef>
                <a:spcPts val="0"/>
              </a:spcBef>
              <a:spcAft>
                <a:spcPts val="0"/>
              </a:spcAft>
              <a:buClr>
                <a:srgbClr val="000000"/>
              </a:buClr>
              <a:buSzPts val="2033"/>
              <a:buFont typeface="Roboto"/>
              <a:buChar char="●"/>
            </a:pPr>
            <a:r>
              <a:rPr lang="en" sz="2033">
                <a:latin typeface="Roboto"/>
                <a:ea typeface="Roboto"/>
                <a:cs typeface="Roboto"/>
                <a:sym typeface="Roboto"/>
              </a:rPr>
              <a:t>Want to determine if a proposal requires compliance</a:t>
            </a:r>
            <a:endParaRPr sz="2033">
              <a:latin typeface="Roboto"/>
              <a:ea typeface="Roboto"/>
              <a:cs typeface="Roboto"/>
              <a:sym typeface="Roboto"/>
            </a:endParaRPr>
          </a:p>
          <a:p>
            <a:pPr indent="0" lvl="0" marL="165100" rtl="0" algn="l">
              <a:spcBef>
                <a:spcPts val="0"/>
              </a:spcBef>
              <a:spcAft>
                <a:spcPts val="0"/>
              </a:spcAft>
              <a:buNone/>
            </a:pPr>
            <a:r>
              <a:t/>
            </a:r>
            <a:endParaRPr sz="2033">
              <a:latin typeface="Roboto"/>
              <a:ea typeface="Roboto"/>
              <a:cs typeface="Roboto"/>
              <a:sym typeface="Roboto"/>
            </a:endParaRPr>
          </a:p>
          <a:p>
            <a:pPr indent="-205316" lvl="0" marL="165100" rtl="0" algn="l">
              <a:spcBef>
                <a:spcPts val="0"/>
              </a:spcBef>
              <a:spcAft>
                <a:spcPts val="0"/>
              </a:spcAft>
              <a:buClr>
                <a:srgbClr val="000000"/>
              </a:buClr>
              <a:buSzPts val="2033"/>
              <a:buFont typeface="Roboto"/>
              <a:buChar char="●"/>
            </a:pPr>
            <a:r>
              <a:rPr lang="en" sz="2033">
                <a:latin typeface="Roboto"/>
                <a:ea typeface="Roboto"/>
                <a:cs typeface="Roboto"/>
                <a:sym typeface="Roboto"/>
              </a:rPr>
              <a:t>Want support finding appropriate places to share data</a:t>
            </a:r>
            <a:endParaRPr sz="2033">
              <a:latin typeface="Roboto"/>
              <a:ea typeface="Roboto"/>
              <a:cs typeface="Roboto"/>
              <a:sym typeface="Roboto"/>
            </a:endParaRPr>
          </a:p>
          <a:p>
            <a:pPr indent="0" lvl="0" marL="165100" rtl="0" algn="l">
              <a:spcBef>
                <a:spcPts val="0"/>
              </a:spcBef>
              <a:spcAft>
                <a:spcPts val="0"/>
              </a:spcAft>
              <a:buNone/>
            </a:pPr>
            <a:r>
              <a:t/>
            </a:r>
            <a:endParaRPr sz="2033">
              <a:latin typeface="Roboto"/>
              <a:ea typeface="Roboto"/>
              <a:cs typeface="Roboto"/>
              <a:sym typeface="Roboto"/>
            </a:endParaRPr>
          </a:p>
          <a:p>
            <a:pPr indent="-205316" lvl="0" marL="165100" rtl="0" algn="l">
              <a:spcBef>
                <a:spcPts val="0"/>
              </a:spcBef>
              <a:spcAft>
                <a:spcPts val="0"/>
              </a:spcAft>
              <a:buClr>
                <a:srgbClr val="000000"/>
              </a:buClr>
              <a:buSzPts val="2033"/>
              <a:buFont typeface="Roboto"/>
              <a:buChar char="●"/>
            </a:pPr>
            <a:r>
              <a:rPr lang="en" sz="2033">
                <a:latin typeface="Roboto"/>
                <a:ea typeface="Roboto"/>
                <a:cs typeface="Roboto"/>
                <a:sym typeface="Roboto"/>
              </a:rPr>
              <a:t>Want support writing a data </a:t>
            </a:r>
            <a:r>
              <a:rPr lang="en" sz="2033">
                <a:latin typeface="Roboto"/>
                <a:ea typeface="Roboto"/>
                <a:cs typeface="Roboto"/>
                <a:sym typeface="Roboto"/>
              </a:rPr>
              <a:t>management</a:t>
            </a:r>
            <a:r>
              <a:rPr lang="en" sz="2033">
                <a:latin typeface="Roboto"/>
                <a:ea typeface="Roboto"/>
                <a:cs typeface="Roboto"/>
                <a:sym typeface="Roboto"/>
              </a:rPr>
              <a:t> and sharing plan</a:t>
            </a:r>
            <a:endParaRPr sz="2033">
              <a:latin typeface="Roboto"/>
              <a:ea typeface="Roboto"/>
              <a:cs typeface="Roboto"/>
              <a:sym typeface="Roboto"/>
            </a:endParaRPr>
          </a:p>
          <a:p>
            <a:pPr indent="0" lvl="0" marL="0" rtl="0" algn="l">
              <a:spcBef>
                <a:spcPts val="0"/>
              </a:spcBef>
              <a:spcAft>
                <a:spcPts val="0"/>
              </a:spcAft>
              <a:buNone/>
            </a:pPr>
            <a:r>
              <a:t/>
            </a:r>
            <a:endParaRPr sz="1700">
              <a:latin typeface="Montserrat"/>
              <a:ea typeface="Montserrat"/>
              <a:cs typeface="Montserrat"/>
              <a:sym typeface="Montserrat"/>
            </a:endParaRPr>
          </a:p>
        </p:txBody>
      </p:sp>
      <p:pic>
        <p:nvPicPr>
          <p:cNvPr id="178" name="Google Shape;178;p16"/>
          <p:cNvPicPr preferRelativeResize="0"/>
          <p:nvPr/>
        </p:nvPicPr>
        <p:blipFill>
          <a:blip r:embed="rId3">
            <a:alphaModFix/>
          </a:blip>
          <a:stretch>
            <a:fillRect/>
          </a:stretch>
        </p:blipFill>
        <p:spPr>
          <a:xfrm>
            <a:off x="912300" y="1167665"/>
            <a:ext cx="450324" cy="450324"/>
          </a:xfrm>
          <a:prstGeom prst="rect">
            <a:avLst/>
          </a:prstGeom>
          <a:noFill/>
          <a:ln>
            <a:noFill/>
          </a:ln>
        </p:spPr>
      </p:pic>
      <p:pic>
        <p:nvPicPr>
          <p:cNvPr id="179" name="Google Shape;179;p16"/>
          <p:cNvPicPr preferRelativeResize="0"/>
          <p:nvPr/>
        </p:nvPicPr>
        <p:blipFill>
          <a:blip r:embed="rId3">
            <a:alphaModFix/>
          </a:blip>
          <a:stretch>
            <a:fillRect/>
          </a:stretch>
        </p:blipFill>
        <p:spPr>
          <a:xfrm>
            <a:off x="912300" y="1777265"/>
            <a:ext cx="450324" cy="450324"/>
          </a:xfrm>
          <a:prstGeom prst="rect">
            <a:avLst/>
          </a:prstGeom>
          <a:noFill/>
          <a:ln>
            <a:noFill/>
          </a:ln>
        </p:spPr>
      </p:pic>
      <p:pic>
        <p:nvPicPr>
          <p:cNvPr id="180" name="Google Shape;180;p16"/>
          <p:cNvPicPr preferRelativeResize="0"/>
          <p:nvPr/>
        </p:nvPicPr>
        <p:blipFill>
          <a:blip r:embed="rId3">
            <a:alphaModFix/>
          </a:blip>
          <a:stretch>
            <a:fillRect/>
          </a:stretch>
        </p:blipFill>
        <p:spPr>
          <a:xfrm>
            <a:off x="912300" y="2721640"/>
            <a:ext cx="450324" cy="450324"/>
          </a:xfrm>
          <a:prstGeom prst="rect">
            <a:avLst/>
          </a:prstGeom>
          <a:noFill/>
          <a:ln>
            <a:noFill/>
          </a:ln>
        </p:spPr>
      </p:pic>
      <p:pic>
        <p:nvPicPr>
          <p:cNvPr id="181" name="Google Shape;181;p16"/>
          <p:cNvPicPr preferRelativeResize="0"/>
          <p:nvPr/>
        </p:nvPicPr>
        <p:blipFill>
          <a:blip r:embed="rId3">
            <a:alphaModFix/>
          </a:blip>
          <a:stretch>
            <a:fillRect/>
          </a:stretch>
        </p:blipFill>
        <p:spPr>
          <a:xfrm>
            <a:off x="912300" y="3621778"/>
            <a:ext cx="450324" cy="450324"/>
          </a:xfrm>
          <a:prstGeom prst="rect">
            <a:avLst/>
          </a:prstGeom>
          <a:noFill/>
          <a:ln>
            <a:noFill/>
          </a:ln>
        </p:spPr>
      </p:pic>
      <p:pic>
        <p:nvPicPr>
          <p:cNvPr id="182" name="Google Shape;182;p16"/>
          <p:cNvPicPr preferRelativeResize="0"/>
          <p:nvPr/>
        </p:nvPicPr>
        <p:blipFill>
          <a:blip r:embed="rId4">
            <a:alphaModFix/>
          </a:blip>
          <a:stretch>
            <a:fillRect/>
          </a:stretch>
        </p:blipFill>
        <p:spPr>
          <a:xfrm>
            <a:off x="6321550" y="941804"/>
            <a:ext cx="902050" cy="902070"/>
          </a:xfrm>
          <a:prstGeom prst="rect">
            <a:avLst/>
          </a:prstGeom>
          <a:noFill/>
          <a:ln>
            <a:noFill/>
          </a:ln>
        </p:spPr>
      </p:pic>
      <p:pic>
        <p:nvPicPr>
          <p:cNvPr id="183" name="Google Shape;183;p16"/>
          <p:cNvPicPr preferRelativeResize="0"/>
          <p:nvPr/>
        </p:nvPicPr>
        <p:blipFill>
          <a:blip r:embed="rId5">
            <a:alphaModFix/>
          </a:blip>
          <a:stretch>
            <a:fillRect/>
          </a:stretch>
        </p:blipFill>
        <p:spPr>
          <a:xfrm>
            <a:off x="7101825" y="1707036"/>
            <a:ext cx="726650" cy="726650"/>
          </a:xfrm>
          <a:prstGeom prst="rect">
            <a:avLst/>
          </a:prstGeom>
          <a:noFill/>
          <a:ln>
            <a:noFill/>
          </a:ln>
        </p:spPr>
      </p:pic>
      <p:pic>
        <p:nvPicPr>
          <p:cNvPr id="184" name="Google Shape;184;p16"/>
          <p:cNvPicPr preferRelativeResize="0"/>
          <p:nvPr/>
        </p:nvPicPr>
        <p:blipFill>
          <a:blip r:embed="rId6">
            <a:alphaModFix/>
          </a:blip>
          <a:stretch>
            <a:fillRect/>
          </a:stretch>
        </p:blipFill>
        <p:spPr>
          <a:xfrm>
            <a:off x="6140325" y="1808463"/>
            <a:ext cx="523800" cy="523800"/>
          </a:xfrm>
          <a:prstGeom prst="rect">
            <a:avLst/>
          </a:prstGeom>
          <a:noFill/>
          <a:ln>
            <a:noFill/>
          </a:ln>
        </p:spPr>
      </p:pic>
      <p:sp>
        <p:nvSpPr>
          <p:cNvPr id="185" name="Google Shape;185;p16"/>
          <p:cNvSpPr txBox="1"/>
          <p:nvPr/>
        </p:nvSpPr>
        <p:spPr>
          <a:xfrm>
            <a:off x="6737613" y="1870250"/>
            <a:ext cx="364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or</a:t>
            </a:r>
            <a:endParaRPr>
              <a:latin typeface="Lato"/>
              <a:ea typeface="Lato"/>
              <a:cs typeface="Lato"/>
              <a:sym typeface="Lato"/>
            </a:endParaRPr>
          </a:p>
        </p:txBody>
      </p:sp>
      <p:pic>
        <p:nvPicPr>
          <p:cNvPr id="186" name="Google Shape;186;p16"/>
          <p:cNvPicPr preferRelativeResize="0"/>
          <p:nvPr/>
        </p:nvPicPr>
        <p:blipFill>
          <a:blip r:embed="rId7">
            <a:alphaModFix/>
          </a:blip>
          <a:stretch>
            <a:fillRect/>
          </a:stretch>
        </p:blipFill>
        <p:spPr>
          <a:xfrm>
            <a:off x="6381438" y="2619175"/>
            <a:ext cx="782275" cy="782275"/>
          </a:xfrm>
          <a:prstGeom prst="rect">
            <a:avLst/>
          </a:prstGeom>
          <a:noFill/>
          <a:ln>
            <a:noFill/>
          </a:ln>
        </p:spPr>
      </p:pic>
      <p:pic>
        <p:nvPicPr>
          <p:cNvPr id="187" name="Google Shape;187;p16"/>
          <p:cNvPicPr preferRelativeResize="0"/>
          <p:nvPr/>
        </p:nvPicPr>
        <p:blipFill>
          <a:blip r:embed="rId8">
            <a:alphaModFix/>
          </a:blip>
          <a:stretch>
            <a:fillRect/>
          </a:stretch>
        </p:blipFill>
        <p:spPr>
          <a:xfrm>
            <a:off x="6215975" y="3720313"/>
            <a:ext cx="666450" cy="666450"/>
          </a:xfrm>
          <a:prstGeom prst="rect">
            <a:avLst/>
          </a:prstGeom>
          <a:noFill/>
          <a:ln>
            <a:noFill/>
          </a:ln>
        </p:spPr>
      </p:pic>
      <p:sp>
        <p:nvSpPr>
          <p:cNvPr id="188" name="Google Shape;188;p16"/>
          <p:cNvSpPr txBox="1"/>
          <p:nvPr/>
        </p:nvSpPr>
        <p:spPr>
          <a:xfrm>
            <a:off x="721100" y="4858050"/>
            <a:ext cx="7538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Lato"/>
                <a:ea typeface="Lato"/>
                <a:cs typeface="Lato"/>
                <a:sym typeface="Lato"/>
              </a:rPr>
              <a:t>Icons from iconpacks,  iconmonstr, and NIH</a:t>
            </a:r>
            <a:endParaRPr sz="10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7"/>
          <p:cNvSpPr txBox="1"/>
          <p:nvPr/>
        </p:nvSpPr>
        <p:spPr>
          <a:xfrm>
            <a:off x="1236925" y="759950"/>
            <a:ext cx="7309800" cy="420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150">
                <a:solidFill>
                  <a:srgbClr val="24292F"/>
                </a:solidFill>
                <a:highlight>
                  <a:srgbClr val="FFFFFF"/>
                </a:highlight>
              </a:rPr>
              <a:t>Why this change?</a:t>
            </a:r>
            <a:r>
              <a:rPr lang="en" sz="1150">
                <a:solidFill>
                  <a:srgbClr val="24292F"/>
                </a:solidFill>
                <a:highlight>
                  <a:srgbClr val="FFFFFF"/>
                </a:highlight>
              </a:rPr>
              <a:t> As of January 23, 2023, the NIH is requiring all grant proposals include a Data Management and Sharing </a:t>
            </a:r>
            <a:r>
              <a:rPr lang="en" sz="1150">
                <a:solidFill>
                  <a:srgbClr val="24292F"/>
                </a:solidFill>
                <a:highlight>
                  <a:srgbClr val="FFFFFF"/>
                </a:highlight>
              </a:rPr>
              <a:t>P</a:t>
            </a:r>
            <a:r>
              <a:rPr lang="en" sz="1150">
                <a:solidFill>
                  <a:srgbClr val="24292F"/>
                </a:solidFill>
                <a:highlight>
                  <a:srgbClr val="FFFFFF"/>
                </a:highlight>
              </a:rPr>
              <a:t>lan to aid in the transparency and reproducibility of NIH-funded research.</a:t>
            </a:r>
            <a:endParaRPr sz="1150">
              <a:solidFill>
                <a:srgbClr val="24292F"/>
              </a:solidFill>
              <a:highlight>
                <a:srgbClr val="FFFFFF"/>
              </a:highlight>
            </a:endParaRPr>
          </a:p>
          <a:p>
            <a:pPr indent="0" lvl="0" marL="0" rtl="0" algn="l">
              <a:lnSpc>
                <a:spcPct val="50000"/>
              </a:lnSpc>
              <a:spcBef>
                <a:spcPts val="0"/>
              </a:spcBef>
              <a:spcAft>
                <a:spcPts val="0"/>
              </a:spcAft>
              <a:buNone/>
            </a:pPr>
            <a:r>
              <a:t/>
            </a:r>
            <a:endParaRPr sz="1150">
              <a:solidFill>
                <a:srgbClr val="24292F"/>
              </a:solidFill>
              <a:highlight>
                <a:srgbClr val="FFFFFF"/>
              </a:highlight>
            </a:endParaRPr>
          </a:p>
          <a:p>
            <a:pPr indent="0" lvl="0" marL="0" rtl="0" algn="l">
              <a:lnSpc>
                <a:spcPct val="115000"/>
              </a:lnSpc>
              <a:spcBef>
                <a:spcPts val="300"/>
              </a:spcBef>
              <a:spcAft>
                <a:spcPts val="0"/>
              </a:spcAft>
              <a:buNone/>
            </a:pPr>
            <a:r>
              <a:rPr b="1" lang="en" sz="1150">
                <a:solidFill>
                  <a:srgbClr val="24292F"/>
                </a:solidFill>
                <a:highlight>
                  <a:srgbClr val="FFFFFF"/>
                </a:highlight>
              </a:rPr>
              <a:t>Does this apply to me?</a:t>
            </a:r>
            <a:r>
              <a:rPr lang="en" sz="1150">
                <a:solidFill>
                  <a:srgbClr val="24292F"/>
                </a:solidFill>
                <a:highlight>
                  <a:srgbClr val="FFFFFF"/>
                </a:highlight>
              </a:rPr>
              <a:t> This will apply to most grants that create data, although some </a:t>
            </a:r>
            <a:r>
              <a:rPr lang="en" sz="1150">
                <a:solidFill>
                  <a:srgbClr val="24292F"/>
                </a:solidFill>
                <a:highlight>
                  <a:srgbClr val="FFFFFF"/>
                </a:highlight>
              </a:rPr>
              <a:t>grant </a:t>
            </a:r>
            <a:r>
              <a:rPr lang="en" sz="1150">
                <a:solidFill>
                  <a:srgbClr val="24292F"/>
                </a:solidFill>
                <a:highlight>
                  <a:srgbClr val="FFFFFF"/>
                </a:highlight>
              </a:rPr>
              <a:t>mechanisms and some data are exempt. </a:t>
            </a:r>
            <a:r>
              <a:rPr b="1" lang="en" sz="1150">
                <a:solidFill>
                  <a:srgbClr val="24292F"/>
                </a:solidFill>
                <a:highlight>
                  <a:srgbClr val="E8EBEE"/>
                </a:highlight>
              </a:rPr>
              <a:t>It is not required to share all data</a:t>
            </a:r>
            <a:r>
              <a:rPr lang="en" sz="1150">
                <a:solidFill>
                  <a:srgbClr val="24292F"/>
                </a:solidFill>
                <a:highlight>
                  <a:srgbClr val="E8EBEE"/>
                </a:highlight>
              </a:rPr>
              <a:t>,</a:t>
            </a:r>
            <a:r>
              <a:rPr lang="en" sz="1150">
                <a:solidFill>
                  <a:srgbClr val="24292F"/>
                </a:solidFill>
                <a:highlight>
                  <a:srgbClr val="FFFFFF"/>
                </a:highlight>
              </a:rPr>
              <a:t> </a:t>
            </a:r>
            <a:r>
              <a:rPr lang="en" sz="1150">
                <a:solidFill>
                  <a:srgbClr val="24292F"/>
                </a:solidFill>
                <a:highlight>
                  <a:srgbClr val="FFFFFF"/>
                </a:highlight>
              </a:rPr>
              <a:t>however a justification is required. Reasons not to share that are acceptable may be ethical, technical, or legal.</a:t>
            </a:r>
            <a:endParaRPr sz="1150">
              <a:solidFill>
                <a:srgbClr val="24292F"/>
              </a:solidFill>
              <a:highlight>
                <a:srgbClr val="FFFFFF"/>
              </a:highlight>
            </a:endParaRPr>
          </a:p>
          <a:p>
            <a:pPr indent="0" lvl="0" marL="0" rtl="0" algn="l">
              <a:lnSpc>
                <a:spcPct val="50000"/>
              </a:lnSpc>
              <a:spcBef>
                <a:spcPts val="300"/>
              </a:spcBef>
              <a:spcAft>
                <a:spcPts val="0"/>
              </a:spcAft>
              <a:buNone/>
            </a:pPr>
            <a:r>
              <a:t/>
            </a:r>
            <a:endParaRPr sz="1150">
              <a:solidFill>
                <a:srgbClr val="24292F"/>
              </a:solidFill>
              <a:highlight>
                <a:srgbClr val="FFFFFF"/>
              </a:highlight>
            </a:endParaRPr>
          </a:p>
          <a:p>
            <a:pPr indent="0" lvl="0" marL="0" rtl="0" algn="l">
              <a:lnSpc>
                <a:spcPct val="115000"/>
              </a:lnSpc>
              <a:spcBef>
                <a:spcPts val="300"/>
              </a:spcBef>
              <a:spcAft>
                <a:spcPts val="0"/>
              </a:spcAft>
              <a:buNone/>
            </a:pPr>
            <a:r>
              <a:rPr b="1" lang="en" sz="1150">
                <a:solidFill>
                  <a:srgbClr val="24292F"/>
                </a:solidFill>
                <a:highlight>
                  <a:srgbClr val="FFFFFF"/>
                </a:highlight>
              </a:rPr>
              <a:t>Where should I share my data</a:t>
            </a:r>
            <a:r>
              <a:rPr b="1" lang="en" sz="1150">
                <a:solidFill>
                  <a:srgbClr val="24292F"/>
                </a:solidFill>
                <a:highlight>
                  <a:srgbClr val="FFFFFF"/>
                </a:highlight>
              </a:rPr>
              <a:t>?</a:t>
            </a:r>
            <a:r>
              <a:rPr lang="en" sz="1150">
                <a:solidFill>
                  <a:srgbClr val="24292F"/>
                </a:solidFill>
                <a:highlight>
                  <a:srgbClr val="FFFFFF"/>
                </a:highlight>
              </a:rPr>
              <a:t> The NIH has lists of suggested repositories, and you will need to choose the most appropriate. If there is not an appropriate repository, you can share your data at an </a:t>
            </a:r>
            <a:r>
              <a:rPr lang="en" sz="1150">
                <a:solidFill>
                  <a:srgbClr val="24292F"/>
                </a:solidFill>
                <a:highlight>
                  <a:srgbClr val="FFFFFF"/>
                </a:highlight>
              </a:rPr>
              <a:t>institutional</a:t>
            </a:r>
            <a:r>
              <a:rPr lang="en" sz="1150">
                <a:solidFill>
                  <a:srgbClr val="24292F"/>
                </a:solidFill>
                <a:highlight>
                  <a:srgbClr val="FFFFFF"/>
                </a:highlight>
              </a:rPr>
              <a:t> (if </a:t>
            </a:r>
            <a:r>
              <a:rPr lang="en" sz="1150">
                <a:solidFill>
                  <a:srgbClr val="24292F"/>
                </a:solidFill>
                <a:highlight>
                  <a:srgbClr val="FFFFFF"/>
                </a:highlight>
              </a:rPr>
              <a:t>available</a:t>
            </a:r>
            <a:r>
              <a:rPr lang="en" sz="1150">
                <a:solidFill>
                  <a:srgbClr val="24292F"/>
                </a:solidFill>
                <a:highlight>
                  <a:srgbClr val="FFFFFF"/>
                </a:highlight>
              </a:rPr>
              <a:t>) or generalist repository.</a:t>
            </a:r>
            <a:endParaRPr sz="1150">
              <a:solidFill>
                <a:srgbClr val="24292F"/>
              </a:solidFill>
              <a:highlight>
                <a:srgbClr val="FFFFFF"/>
              </a:highlight>
            </a:endParaRPr>
          </a:p>
          <a:p>
            <a:pPr indent="0" lvl="0" marL="0" rtl="0" algn="l">
              <a:lnSpc>
                <a:spcPct val="50000"/>
              </a:lnSpc>
              <a:spcBef>
                <a:spcPts val="300"/>
              </a:spcBef>
              <a:spcAft>
                <a:spcPts val="0"/>
              </a:spcAft>
              <a:buNone/>
            </a:pPr>
            <a:r>
              <a:t/>
            </a:r>
            <a:endParaRPr sz="1150">
              <a:solidFill>
                <a:srgbClr val="24292F"/>
              </a:solidFill>
              <a:highlight>
                <a:srgbClr val="FFFFFF"/>
              </a:highlight>
            </a:endParaRPr>
          </a:p>
          <a:p>
            <a:pPr indent="0" lvl="0" marL="0" rtl="0" algn="l">
              <a:lnSpc>
                <a:spcPct val="115000"/>
              </a:lnSpc>
              <a:spcBef>
                <a:spcPts val="300"/>
              </a:spcBef>
              <a:spcAft>
                <a:spcPts val="0"/>
              </a:spcAft>
              <a:buNone/>
            </a:pPr>
            <a:r>
              <a:rPr b="1" lang="en" sz="1150">
                <a:solidFill>
                  <a:srgbClr val="24292F"/>
                </a:solidFill>
                <a:highlight>
                  <a:srgbClr val="FFFFFF"/>
                </a:highlight>
              </a:rPr>
              <a:t>How do I budget this</a:t>
            </a:r>
            <a:r>
              <a:rPr b="1" lang="en" sz="1150">
                <a:solidFill>
                  <a:srgbClr val="24292F"/>
                </a:solidFill>
                <a:highlight>
                  <a:srgbClr val="FFFFFF"/>
                </a:highlight>
              </a:rPr>
              <a:t>? </a:t>
            </a:r>
            <a:r>
              <a:rPr lang="en" sz="1150">
                <a:solidFill>
                  <a:srgbClr val="24292F"/>
                </a:solidFill>
                <a:highlight>
                  <a:srgbClr val="FFFFFF"/>
                </a:highlight>
              </a:rPr>
              <a:t>You may request funds for data </a:t>
            </a:r>
            <a:r>
              <a:rPr lang="en" sz="1150">
                <a:solidFill>
                  <a:srgbClr val="24292F"/>
                </a:solidFill>
                <a:highlight>
                  <a:srgbClr val="FFFFFF"/>
                </a:highlight>
              </a:rPr>
              <a:t>management</a:t>
            </a:r>
            <a:r>
              <a:rPr lang="en" sz="1150">
                <a:solidFill>
                  <a:srgbClr val="24292F"/>
                </a:solidFill>
                <a:highlight>
                  <a:srgbClr val="FFFFFF"/>
                </a:highlight>
              </a:rPr>
              <a:t> and sharing in direct costs. You may not </a:t>
            </a:r>
            <a:r>
              <a:rPr lang="en" sz="1150">
                <a:solidFill>
                  <a:srgbClr val="24292F"/>
                </a:solidFill>
                <a:highlight>
                  <a:srgbClr val="FFFFFF"/>
                </a:highlight>
              </a:rPr>
              <a:t>infrastructure</a:t>
            </a:r>
            <a:r>
              <a:rPr lang="en" sz="1150">
                <a:solidFill>
                  <a:srgbClr val="24292F"/>
                </a:solidFill>
                <a:highlight>
                  <a:srgbClr val="FFFFFF"/>
                </a:highlight>
              </a:rPr>
              <a:t> costs in direct costs as these should be included as indirect costs.</a:t>
            </a:r>
            <a:endParaRPr sz="1150">
              <a:solidFill>
                <a:srgbClr val="24292F"/>
              </a:solidFill>
              <a:highlight>
                <a:srgbClr val="FFFFFF"/>
              </a:highlight>
            </a:endParaRPr>
          </a:p>
          <a:p>
            <a:pPr indent="0" lvl="0" marL="457200" rtl="0" algn="l">
              <a:lnSpc>
                <a:spcPct val="50000"/>
              </a:lnSpc>
              <a:spcBef>
                <a:spcPts val="300"/>
              </a:spcBef>
              <a:spcAft>
                <a:spcPts val="0"/>
              </a:spcAft>
              <a:buNone/>
            </a:pPr>
            <a:r>
              <a:t/>
            </a:r>
            <a:endParaRPr sz="1150">
              <a:solidFill>
                <a:srgbClr val="24292F"/>
              </a:solidFill>
              <a:highlight>
                <a:srgbClr val="FFFFFF"/>
              </a:highlight>
            </a:endParaRPr>
          </a:p>
          <a:p>
            <a:pPr indent="0" lvl="0" marL="0" rtl="0" algn="l">
              <a:lnSpc>
                <a:spcPct val="115000"/>
              </a:lnSpc>
              <a:spcBef>
                <a:spcPts val="300"/>
              </a:spcBef>
              <a:spcAft>
                <a:spcPts val="0"/>
              </a:spcAft>
              <a:buNone/>
            </a:pPr>
            <a:r>
              <a:rPr b="1" lang="en" sz="1150">
                <a:solidFill>
                  <a:srgbClr val="24292F"/>
                </a:solidFill>
                <a:highlight>
                  <a:srgbClr val="FFFFFF"/>
                </a:highlight>
              </a:rPr>
              <a:t>How do I write my plan</a:t>
            </a:r>
            <a:r>
              <a:rPr b="1" lang="en" sz="1150">
                <a:solidFill>
                  <a:srgbClr val="24292F"/>
                </a:solidFill>
                <a:highlight>
                  <a:srgbClr val="FFFFFF"/>
                </a:highlight>
              </a:rPr>
              <a:t>? </a:t>
            </a:r>
            <a:r>
              <a:rPr lang="en" sz="1150">
                <a:solidFill>
                  <a:srgbClr val="24292F"/>
                </a:solidFill>
                <a:highlight>
                  <a:srgbClr val="FFFFFF"/>
                </a:highlight>
              </a:rPr>
              <a:t>Your plan should be &lt; 2 pages and include sections on data type; tools, software, and code; standards; data preservation, access, and timelines; access, distribution, and reuse considerations; and oversight. </a:t>
            </a:r>
            <a:r>
              <a:rPr b="1" lang="en" sz="1150">
                <a:solidFill>
                  <a:srgbClr val="24292F"/>
                </a:solidFill>
                <a:highlight>
                  <a:srgbClr val="E8EBEE"/>
                </a:highlight>
              </a:rPr>
              <a:t>You can change your plan</a:t>
            </a:r>
            <a:r>
              <a:rPr lang="en" sz="1150">
                <a:solidFill>
                  <a:srgbClr val="24292F"/>
                </a:solidFill>
                <a:highlight>
                  <a:srgbClr val="FFFFFF"/>
                </a:highlight>
              </a:rPr>
              <a:t> in the just-in-time process or during regular reporting intervals.</a:t>
            </a:r>
            <a:endParaRPr sz="1150">
              <a:solidFill>
                <a:srgbClr val="24292F"/>
              </a:solidFill>
              <a:highlight>
                <a:srgbClr val="FFFFFF"/>
              </a:highlight>
            </a:endParaRPr>
          </a:p>
          <a:p>
            <a:pPr indent="0" lvl="0" marL="0" rtl="0" algn="l">
              <a:lnSpc>
                <a:spcPct val="50000"/>
              </a:lnSpc>
              <a:spcBef>
                <a:spcPts val="300"/>
              </a:spcBef>
              <a:spcAft>
                <a:spcPts val="0"/>
              </a:spcAft>
              <a:buNone/>
            </a:pPr>
            <a:r>
              <a:t/>
            </a:r>
            <a:endParaRPr sz="1150">
              <a:solidFill>
                <a:srgbClr val="24292F"/>
              </a:solidFill>
              <a:highlight>
                <a:srgbClr val="FFFFFF"/>
              </a:highlight>
            </a:endParaRPr>
          </a:p>
          <a:p>
            <a:pPr indent="0" lvl="0" marL="0" rtl="0" algn="l">
              <a:lnSpc>
                <a:spcPct val="115000"/>
              </a:lnSpc>
              <a:spcBef>
                <a:spcPts val="300"/>
              </a:spcBef>
              <a:spcAft>
                <a:spcPts val="0"/>
              </a:spcAft>
              <a:buNone/>
            </a:pPr>
            <a:r>
              <a:rPr b="1" lang="en" sz="1150">
                <a:solidFill>
                  <a:srgbClr val="24292F"/>
                </a:solidFill>
                <a:highlight>
                  <a:srgbClr val="FFFFFF"/>
                </a:highlight>
              </a:rPr>
              <a:t>Will my plan influence my grant score</a:t>
            </a:r>
            <a:r>
              <a:rPr b="1" lang="en" sz="1150">
                <a:solidFill>
                  <a:srgbClr val="24292F"/>
                </a:solidFill>
                <a:highlight>
                  <a:srgbClr val="FFFFFF"/>
                </a:highlight>
              </a:rPr>
              <a:t>?</a:t>
            </a:r>
            <a:r>
              <a:rPr lang="en" sz="1150">
                <a:solidFill>
                  <a:srgbClr val="24292F"/>
                </a:solidFill>
                <a:highlight>
                  <a:srgbClr val="FFFFFF"/>
                </a:highlight>
              </a:rPr>
              <a:t> Although the Data Management and Sharing Plan is a mandatory part of most grant proposals, it will not be shared with reviewers and thus will not influence your score, however the budget will be visible to reviewers.</a:t>
            </a:r>
            <a:endParaRPr sz="1150">
              <a:solidFill>
                <a:srgbClr val="24292F"/>
              </a:solidFill>
              <a:highlight>
                <a:srgbClr val="FFFFFF"/>
              </a:highlight>
            </a:endParaRPr>
          </a:p>
        </p:txBody>
      </p:sp>
      <p:sp>
        <p:nvSpPr>
          <p:cNvPr id="194" name="Google Shape;194;p17"/>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a:t>
            </a:r>
            <a:r>
              <a:rPr lang="en" sz="2100">
                <a:solidFill>
                  <a:schemeClr val="dk1"/>
                </a:solidFill>
                <a:latin typeface="Indie Flower"/>
                <a:ea typeface="Indie Flower"/>
                <a:cs typeface="Indie Flower"/>
                <a:sym typeface="Indie Flower"/>
              </a:rPr>
              <a:t>NIH Data Management &amp; Sharing Policy</a:t>
            </a:r>
            <a:endParaRPr sz="2100">
              <a:solidFill>
                <a:schemeClr val="dk1"/>
              </a:solidFill>
              <a:latin typeface="Indie Flower"/>
              <a:ea typeface="Indie Flower"/>
              <a:cs typeface="Indie Flower"/>
              <a:sym typeface="Indie Flower"/>
            </a:endParaRPr>
          </a:p>
        </p:txBody>
      </p:sp>
      <p:pic>
        <p:nvPicPr>
          <p:cNvPr id="195" name="Google Shape;195;p17"/>
          <p:cNvPicPr preferRelativeResize="0"/>
          <p:nvPr/>
        </p:nvPicPr>
        <p:blipFill>
          <a:blip r:embed="rId3">
            <a:alphaModFix/>
          </a:blip>
          <a:stretch>
            <a:fillRect/>
          </a:stretch>
        </p:blipFill>
        <p:spPr>
          <a:xfrm>
            <a:off x="636100" y="796325"/>
            <a:ext cx="457925" cy="457925"/>
          </a:xfrm>
          <a:prstGeom prst="rect">
            <a:avLst/>
          </a:prstGeom>
          <a:noFill/>
          <a:ln>
            <a:noFill/>
          </a:ln>
        </p:spPr>
      </p:pic>
      <p:pic>
        <p:nvPicPr>
          <p:cNvPr id="196" name="Google Shape;196;p17"/>
          <p:cNvPicPr preferRelativeResize="0"/>
          <p:nvPr/>
        </p:nvPicPr>
        <p:blipFill rotWithShape="1">
          <a:blip r:embed="rId4">
            <a:alphaModFix/>
          </a:blip>
          <a:srcRect b="0" l="0" r="0" t="0"/>
          <a:stretch/>
        </p:blipFill>
        <p:spPr>
          <a:xfrm>
            <a:off x="610363" y="1414700"/>
            <a:ext cx="509400" cy="509400"/>
          </a:xfrm>
          <a:prstGeom prst="rect">
            <a:avLst/>
          </a:prstGeom>
          <a:noFill/>
          <a:ln>
            <a:noFill/>
          </a:ln>
        </p:spPr>
      </p:pic>
      <p:pic>
        <p:nvPicPr>
          <p:cNvPr id="197" name="Google Shape;197;p17"/>
          <p:cNvPicPr preferRelativeResize="0"/>
          <p:nvPr/>
        </p:nvPicPr>
        <p:blipFill rotWithShape="1">
          <a:blip r:embed="rId5">
            <a:alphaModFix/>
          </a:blip>
          <a:srcRect b="0" l="0" r="0" t="0"/>
          <a:stretch/>
        </p:blipFill>
        <p:spPr>
          <a:xfrm>
            <a:off x="656450" y="2124350"/>
            <a:ext cx="457925" cy="457925"/>
          </a:xfrm>
          <a:prstGeom prst="rect">
            <a:avLst/>
          </a:prstGeom>
          <a:noFill/>
          <a:ln>
            <a:noFill/>
          </a:ln>
        </p:spPr>
      </p:pic>
      <p:pic>
        <p:nvPicPr>
          <p:cNvPr id="198" name="Google Shape;198;p17"/>
          <p:cNvPicPr preferRelativeResize="0"/>
          <p:nvPr/>
        </p:nvPicPr>
        <p:blipFill rotWithShape="1">
          <a:blip r:embed="rId6">
            <a:alphaModFix/>
          </a:blip>
          <a:srcRect b="0" l="0" r="0" t="0"/>
          <a:stretch/>
        </p:blipFill>
        <p:spPr>
          <a:xfrm>
            <a:off x="664775" y="2879750"/>
            <a:ext cx="414324" cy="414324"/>
          </a:xfrm>
          <a:prstGeom prst="rect">
            <a:avLst/>
          </a:prstGeom>
          <a:noFill/>
          <a:ln>
            <a:noFill/>
          </a:ln>
        </p:spPr>
      </p:pic>
      <p:pic>
        <p:nvPicPr>
          <p:cNvPr id="199" name="Google Shape;199;p17"/>
          <p:cNvPicPr preferRelativeResize="0"/>
          <p:nvPr/>
        </p:nvPicPr>
        <p:blipFill rotWithShape="1">
          <a:blip r:embed="rId7">
            <a:alphaModFix/>
          </a:blip>
          <a:srcRect b="0" l="0" r="0" t="0"/>
          <a:stretch/>
        </p:blipFill>
        <p:spPr>
          <a:xfrm>
            <a:off x="686575" y="3520199"/>
            <a:ext cx="457925" cy="457902"/>
          </a:xfrm>
          <a:prstGeom prst="rect">
            <a:avLst/>
          </a:prstGeom>
          <a:noFill/>
          <a:ln>
            <a:noFill/>
          </a:ln>
        </p:spPr>
      </p:pic>
      <p:pic>
        <p:nvPicPr>
          <p:cNvPr id="200" name="Google Shape;200;p17"/>
          <p:cNvPicPr preferRelativeResize="0"/>
          <p:nvPr/>
        </p:nvPicPr>
        <p:blipFill rotWithShape="1">
          <a:blip r:embed="rId8">
            <a:alphaModFix/>
          </a:blip>
          <a:srcRect b="0" l="0" r="0" t="0"/>
          <a:stretch/>
        </p:blipFill>
        <p:spPr>
          <a:xfrm>
            <a:off x="686575" y="4204225"/>
            <a:ext cx="457925" cy="4579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nvSpPr>
        <p:spPr>
          <a:xfrm>
            <a:off x="1194650" y="620375"/>
            <a:ext cx="7159500" cy="45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600">
                <a:solidFill>
                  <a:srgbClr val="24292F"/>
                </a:solidFill>
              </a:rPr>
              <a:t>Why this change?</a:t>
            </a:r>
            <a:r>
              <a:rPr lang="en" sz="1600">
                <a:solidFill>
                  <a:srgbClr val="24292F"/>
                </a:solidFill>
              </a:rPr>
              <a:t> To aid in the transparency and reproducibility of research</a:t>
            </a:r>
            <a:endParaRPr sz="1600">
              <a:solidFill>
                <a:srgbClr val="24292F"/>
              </a:solidFill>
            </a:endParaRPr>
          </a:p>
          <a:p>
            <a:pPr indent="0" lvl="0" marL="0" rtl="0" algn="l">
              <a:lnSpc>
                <a:spcPct val="50000"/>
              </a:lnSpc>
              <a:spcBef>
                <a:spcPts val="0"/>
              </a:spcBef>
              <a:spcAft>
                <a:spcPts val="0"/>
              </a:spcAft>
              <a:buNone/>
            </a:pPr>
            <a:r>
              <a:t/>
            </a:r>
            <a:endParaRPr sz="1600">
              <a:solidFill>
                <a:srgbClr val="24292F"/>
              </a:solidFill>
            </a:endParaRPr>
          </a:p>
          <a:p>
            <a:pPr indent="0" lvl="0" marL="0" rtl="0" algn="l">
              <a:lnSpc>
                <a:spcPct val="115000"/>
              </a:lnSpc>
              <a:spcBef>
                <a:spcPts val="300"/>
              </a:spcBef>
              <a:spcAft>
                <a:spcPts val="0"/>
              </a:spcAft>
              <a:buNone/>
            </a:pPr>
            <a:r>
              <a:rPr b="1" lang="en" sz="1600">
                <a:solidFill>
                  <a:srgbClr val="24292F"/>
                </a:solidFill>
              </a:rPr>
              <a:t>Does this apply to me?</a:t>
            </a:r>
            <a:r>
              <a:rPr lang="en" sz="1600">
                <a:solidFill>
                  <a:srgbClr val="24292F"/>
                </a:solidFill>
              </a:rPr>
              <a:t> It applies to most grants that create data. </a:t>
            </a:r>
            <a:r>
              <a:rPr lang="en" sz="1600">
                <a:solidFill>
                  <a:srgbClr val="24292F"/>
                </a:solidFill>
              </a:rPr>
              <a:t>It is not required to share all data, h</a:t>
            </a:r>
            <a:r>
              <a:rPr lang="en" sz="1600">
                <a:solidFill>
                  <a:srgbClr val="24292F"/>
                </a:solidFill>
              </a:rPr>
              <a:t>owever a justification is required</a:t>
            </a:r>
            <a:endParaRPr sz="1600">
              <a:solidFill>
                <a:srgbClr val="24292F"/>
              </a:solidFill>
            </a:endParaRPr>
          </a:p>
          <a:p>
            <a:pPr indent="0" lvl="0" marL="0" rtl="0" algn="l">
              <a:lnSpc>
                <a:spcPct val="50000"/>
              </a:lnSpc>
              <a:spcBef>
                <a:spcPts val="300"/>
              </a:spcBef>
              <a:spcAft>
                <a:spcPts val="0"/>
              </a:spcAft>
              <a:buNone/>
            </a:pPr>
            <a:r>
              <a:t/>
            </a:r>
            <a:endParaRPr sz="1600">
              <a:solidFill>
                <a:srgbClr val="24292F"/>
              </a:solidFill>
            </a:endParaRPr>
          </a:p>
          <a:p>
            <a:pPr indent="0" lvl="0" marL="0" rtl="0" algn="l">
              <a:lnSpc>
                <a:spcPct val="115000"/>
              </a:lnSpc>
              <a:spcBef>
                <a:spcPts val="300"/>
              </a:spcBef>
              <a:spcAft>
                <a:spcPts val="0"/>
              </a:spcAft>
              <a:buNone/>
            </a:pPr>
            <a:r>
              <a:rPr b="1" lang="en" sz="1600">
                <a:solidFill>
                  <a:srgbClr val="24292F"/>
                </a:solidFill>
              </a:rPr>
              <a:t>Where should I share my data?</a:t>
            </a:r>
            <a:r>
              <a:rPr lang="en" sz="1600">
                <a:solidFill>
                  <a:srgbClr val="24292F"/>
                </a:solidFill>
              </a:rPr>
              <a:t> The NIH has lists of suggested repositories. If you can’t find one, you can use an institutional (if available) or generalist repository.</a:t>
            </a:r>
            <a:endParaRPr sz="1600">
              <a:solidFill>
                <a:srgbClr val="24292F"/>
              </a:solidFill>
            </a:endParaRPr>
          </a:p>
          <a:p>
            <a:pPr indent="0" lvl="0" marL="0" rtl="0" algn="l">
              <a:lnSpc>
                <a:spcPct val="50000"/>
              </a:lnSpc>
              <a:spcBef>
                <a:spcPts val="300"/>
              </a:spcBef>
              <a:spcAft>
                <a:spcPts val="0"/>
              </a:spcAft>
              <a:buNone/>
            </a:pPr>
            <a:r>
              <a:t/>
            </a:r>
            <a:endParaRPr sz="1600">
              <a:solidFill>
                <a:srgbClr val="24292F"/>
              </a:solidFill>
            </a:endParaRPr>
          </a:p>
          <a:p>
            <a:pPr indent="0" lvl="0" marL="0" rtl="0" algn="l">
              <a:lnSpc>
                <a:spcPct val="115000"/>
              </a:lnSpc>
              <a:spcBef>
                <a:spcPts val="300"/>
              </a:spcBef>
              <a:spcAft>
                <a:spcPts val="0"/>
              </a:spcAft>
              <a:buNone/>
            </a:pPr>
            <a:r>
              <a:rPr b="1" lang="en" sz="1600">
                <a:solidFill>
                  <a:srgbClr val="24292F"/>
                </a:solidFill>
              </a:rPr>
              <a:t>How do I budget this? </a:t>
            </a:r>
            <a:r>
              <a:rPr lang="en" sz="1600">
                <a:solidFill>
                  <a:srgbClr val="24292F"/>
                </a:solidFill>
              </a:rPr>
              <a:t>You may request funds for data management and sharing in direct costs. </a:t>
            </a:r>
            <a:endParaRPr sz="1600">
              <a:solidFill>
                <a:srgbClr val="24292F"/>
              </a:solidFill>
            </a:endParaRPr>
          </a:p>
          <a:p>
            <a:pPr indent="0" lvl="0" marL="0" rtl="0" algn="l">
              <a:lnSpc>
                <a:spcPct val="50000"/>
              </a:lnSpc>
              <a:spcBef>
                <a:spcPts val="300"/>
              </a:spcBef>
              <a:spcAft>
                <a:spcPts val="0"/>
              </a:spcAft>
              <a:buNone/>
            </a:pPr>
            <a:r>
              <a:t/>
            </a:r>
            <a:endParaRPr sz="1600">
              <a:solidFill>
                <a:srgbClr val="24292F"/>
              </a:solidFill>
            </a:endParaRPr>
          </a:p>
          <a:p>
            <a:pPr indent="0" lvl="0" marL="0" rtl="0" algn="l">
              <a:lnSpc>
                <a:spcPct val="115000"/>
              </a:lnSpc>
              <a:spcBef>
                <a:spcPts val="300"/>
              </a:spcBef>
              <a:spcAft>
                <a:spcPts val="0"/>
              </a:spcAft>
              <a:buNone/>
            </a:pPr>
            <a:r>
              <a:rPr b="1" lang="en" sz="1600">
                <a:solidFill>
                  <a:srgbClr val="24292F"/>
                </a:solidFill>
              </a:rPr>
              <a:t>How do I write my plan? </a:t>
            </a:r>
            <a:r>
              <a:rPr lang="en" sz="1600">
                <a:solidFill>
                  <a:srgbClr val="24292F"/>
                </a:solidFill>
              </a:rPr>
              <a:t>Your plan should be &lt; 2 pages. </a:t>
            </a:r>
            <a:r>
              <a:rPr lang="en" sz="1600">
                <a:solidFill>
                  <a:srgbClr val="24292F"/>
                </a:solidFill>
              </a:rPr>
              <a:t>You can change your plan in the just-in-time process or during regular reporting intervals.</a:t>
            </a:r>
            <a:endParaRPr sz="1600">
              <a:solidFill>
                <a:srgbClr val="24292F"/>
              </a:solidFill>
            </a:endParaRPr>
          </a:p>
          <a:p>
            <a:pPr indent="0" lvl="0" marL="0" rtl="0" algn="l">
              <a:lnSpc>
                <a:spcPct val="50000"/>
              </a:lnSpc>
              <a:spcBef>
                <a:spcPts val="300"/>
              </a:spcBef>
              <a:spcAft>
                <a:spcPts val="0"/>
              </a:spcAft>
              <a:buNone/>
            </a:pPr>
            <a:r>
              <a:t/>
            </a:r>
            <a:endParaRPr sz="1600">
              <a:solidFill>
                <a:srgbClr val="24292F"/>
              </a:solidFill>
            </a:endParaRPr>
          </a:p>
          <a:p>
            <a:pPr indent="0" lvl="0" marL="0" rtl="0" algn="l">
              <a:lnSpc>
                <a:spcPct val="115000"/>
              </a:lnSpc>
              <a:spcBef>
                <a:spcPts val="300"/>
              </a:spcBef>
              <a:spcAft>
                <a:spcPts val="0"/>
              </a:spcAft>
              <a:buNone/>
            </a:pPr>
            <a:r>
              <a:rPr b="1" lang="en" sz="1600">
                <a:solidFill>
                  <a:srgbClr val="24292F"/>
                </a:solidFill>
              </a:rPr>
              <a:t>Will plans be reviewed?</a:t>
            </a:r>
            <a:r>
              <a:rPr lang="en" sz="1600">
                <a:solidFill>
                  <a:srgbClr val="24292F"/>
                </a:solidFill>
              </a:rPr>
              <a:t> Your plan will not be shared with reviewers, however the budget will be.</a:t>
            </a:r>
            <a:endParaRPr sz="1600">
              <a:solidFill>
                <a:srgbClr val="24292F"/>
              </a:solidFill>
            </a:endParaRPr>
          </a:p>
        </p:txBody>
      </p:sp>
      <p:sp>
        <p:nvSpPr>
          <p:cNvPr id="206" name="Google Shape;206;p18"/>
          <p:cNvSpPr txBox="1"/>
          <p:nvPr/>
        </p:nvSpPr>
        <p:spPr>
          <a:xfrm rot="-614">
            <a:off x="331550" y="80816"/>
            <a:ext cx="8396400" cy="5388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chemeClr val="dk1"/>
                </a:solidFill>
                <a:latin typeface="Indie Flower"/>
                <a:ea typeface="Indie Flower"/>
                <a:cs typeface="Indie Flower"/>
                <a:sym typeface="Indie Flower"/>
              </a:rPr>
              <a:t>Major Takeaways for the NIH Data Management &amp; Sharing Policy</a:t>
            </a:r>
            <a:endParaRPr sz="2300">
              <a:solidFill>
                <a:schemeClr val="dk1"/>
              </a:solidFill>
              <a:latin typeface="Indie Flower"/>
              <a:ea typeface="Indie Flower"/>
              <a:cs typeface="Indie Flower"/>
              <a:sym typeface="Indie Flower"/>
            </a:endParaRPr>
          </a:p>
        </p:txBody>
      </p:sp>
      <p:pic>
        <p:nvPicPr>
          <p:cNvPr id="207" name="Google Shape;207;p18"/>
          <p:cNvPicPr preferRelativeResize="0"/>
          <p:nvPr/>
        </p:nvPicPr>
        <p:blipFill>
          <a:blip r:embed="rId3">
            <a:alphaModFix/>
          </a:blip>
          <a:stretch>
            <a:fillRect/>
          </a:stretch>
        </p:blipFill>
        <p:spPr>
          <a:xfrm>
            <a:off x="642975" y="669913"/>
            <a:ext cx="457925" cy="457925"/>
          </a:xfrm>
          <a:prstGeom prst="rect">
            <a:avLst/>
          </a:prstGeom>
          <a:noFill/>
          <a:ln>
            <a:noFill/>
          </a:ln>
        </p:spPr>
      </p:pic>
      <p:pic>
        <p:nvPicPr>
          <p:cNvPr id="208" name="Google Shape;208;p18"/>
          <p:cNvPicPr preferRelativeResize="0"/>
          <p:nvPr/>
        </p:nvPicPr>
        <p:blipFill rotWithShape="1">
          <a:blip r:embed="rId4">
            <a:alphaModFix/>
          </a:blip>
          <a:srcRect b="0" l="0" r="0" t="0"/>
          <a:stretch/>
        </p:blipFill>
        <p:spPr>
          <a:xfrm>
            <a:off x="617238" y="1282975"/>
            <a:ext cx="509400" cy="509400"/>
          </a:xfrm>
          <a:prstGeom prst="rect">
            <a:avLst/>
          </a:prstGeom>
          <a:noFill/>
          <a:ln>
            <a:noFill/>
          </a:ln>
        </p:spPr>
      </p:pic>
      <p:pic>
        <p:nvPicPr>
          <p:cNvPr id="209" name="Google Shape;209;p18"/>
          <p:cNvPicPr preferRelativeResize="0"/>
          <p:nvPr/>
        </p:nvPicPr>
        <p:blipFill rotWithShape="1">
          <a:blip r:embed="rId5">
            <a:alphaModFix/>
          </a:blip>
          <a:srcRect b="0" l="0" r="0" t="0"/>
          <a:stretch/>
        </p:blipFill>
        <p:spPr>
          <a:xfrm>
            <a:off x="642975" y="2066213"/>
            <a:ext cx="457925" cy="457925"/>
          </a:xfrm>
          <a:prstGeom prst="rect">
            <a:avLst/>
          </a:prstGeom>
          <a:noFill/>
          <a:ln>
            <a:noFill/>
          </a:ln>
        </p:spPr>
      </p:pic>
      <p:pic>
        <p:nvPicPr>
          <p:cNvPr id="210" name="Google Shape;210;p18"/>
          <p:cNvPicPr preferRelativeResize="0"/>
          <p:nvPr/>
        </p:nvPicPr>
        <p:blipFill rotWithShape="1">
          <a:blip r:embed="rId6">
            <a:alphaModFix/>
          </a:blip>
          <a:srcRect b="0" l="0" r="0" t="0"/>
          <a:stretch/>
        </p:blipFill>
        <p:spPr>
          <a:xfrm>
            <a:off x="664775" y="2981487"/>
            <a:ext cx="414324" cy="414324"/>
          </a:xfrm>
          <a:prstGeom prst="rect">
            <a:avLst/>
          </a:prstGeom>
          <a:noFill/>
          <a:ln>
            <a:noFill/>
          </a:ln>
        </p:spPr>
      </p:pic>
      <p:pic>
        <p:nvPicPr>
          <p:cNvPr id="211" name="Google Shape;211;p18"/>
          <p:cNvPicPr preferRelativeResize="0"/>
          <p:nvPr/>
        </p:nvPicPr>
        <p:blipFill rotWithShape="1">
          <a:blip r:embed="rId7">
            <a:alphaModFix/>
          </a:blip>
          <a:srcRect b="0" l="0" r="0" t="0"/>
          <a:stretch/>
        </p:blipFill>
        <p:spPr>
          <a:xfrm>
            <a:off x="642975" y="3744199"/>
            <a:ext cx="457925" cy="457902"/>
          </a:xfrm>
          <a:prstGeom prst="rect">
            <a:avLst/>
          </a:prstGeom>
          <a:noFill/>
          <a:ln>
            <a:noFill/>
          </a:ln>
        </p:spPr>
      </p:pic>
      <p:pic>
        <p:nvPicPr>
          <p:cNvPr id="212" name="Google Shape;212;p18"/>
          <p:cNvPicPr preferRelativeResize="0"/>
          <p:nvPr/>
        </p:nvPicPr>
        <p:blipFill rotWithShape="1">
          <a:blip r:embed="rId8">
            <a:alphaModFix/>
          </a:blip>
          <a:srcRect b="0" l="0" r="0" t="0"/>
          <a:stretch/>
        </p:blipFill>
        <p:spPr>
          <a:xfrm>
            <a:off x="642975" y="4508250"/>
            <a:ext cx="457925" cy="4579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9"/>
          <p:cNvSpPr txBox="1"/>
          <p:nvPr/>
        </p:nvSpPr>
        <p:spPr>
          <a:xfrm>
            <a:off x="1184075" y="584150"/>
            <a:ext cx="7444800" cy="436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800">
                <a:solidFill>
                  <a:srgbClr val="24292F"/>
                </a:solidFill>
              </a:rPr>
              <a:t>The goal is to</a:t>
            </a:r>
            <a:r>
              <a:rPr lang="en" sz="1800">
                <a:solidFill>
                  <a:srgbClr val="24292F"/>
                </a:solidFill>
              </a:rPr>
              <a:t> aid in the transparency and reproducibility of research.</a:t>
            </a:r>
            <a:endParaRPr sz="1800">
              <a:solidFill>
                <a:srgbClr val="24292F"/>
              </a:solidFill>
            </a:endParaRPr>
          </a:p>
          <a:p>
            <a:pPr indent="0" lvl="0" marL="0" rtl="0" algn="l">
              <a:lnSpc>
                <a:spcPct val="50000"/>
              </a:lnSpc>
              <a:spcBef>
                <a:spcPts val="0"/>
              </a:spcBef>
              <a:spcAft>
                <a:spcPts val="0"/>
              </a:spcAft>
              <a:buNone/>
            </a:pPr>
            <a:r>
              <a:t/>
            </a:r>
            <a:endParaRPr sz="1800">
              <a:solidFill>
                <a:srgbClr val="24292F"/>
              </a:solidFill>
            </a:endParaRPr>
          </a:p>
          <a:p>
            <a:pPr indent="0" lvl="0" marL="0" rtl="0" algn="l">
              <a:lnSpc>
                <a:spcPct val="115000"/>
              </a:lnSpc>
              <a:spcBef>
                <a:spcPts val="300"/>
              </a:spcBef>
              <a:spcAft>
                <a:spcPts val="0"/>
              </a:spcAft>
              <a:buNone/>
            </a:pPr>
            <a:r>
              <a:rPr lang="en" sz="1800">
                <a:solidFill>
                  <a:srgbClr val="24292F"/>
                </a:solidFill>
              </a:rPr>
              <a:t>The policy applies to most grants that create data. It is not required to share all data, however a justification is required.</a:t>
            </a:r>
            <a:endParaRPr sz="1800">
              <a:solidFill>
                <a:srgbClr val="24292F"/>
              </a:solidFill>
            </a:endParaRPr>
          </a:p>
          <a:p>
            <a:pPr indent="0" lvl="0" marL="0" rtl="0" algn="l">
              <a:lnSpc>
                <a:spcPct val="50000"/>
              </a:lnSpc>
              <a:spcBef>
                <a:spcPts val="300"/>
              </a:spcBef>
              <a:spcAft>
                <a:spcPts val="0"/>
              </a:spcAft>
              <a:buNone/>
            </a:pPr>
            <a:r>
              <a:t/>
            </a:r>
            <a:endParaRPr sz="1800">
              <a:solidFill>
                <a:srgbClr val="24292F"/>
              </a:solidFill>
            </a:endParaRPr>
          </a:p>
          <a:p>
            <a:pPr indent="0" lvl="0" marL="0" rtl="0" algn="l">
              <a:lnSpc>
                <a:spcPct val="115000"/>
              </a:lnSpc>
              <a:spcBef>
                <a:spcPts val="300"/>
              </a:spcBef>
              <a:spcAft>
                <a:spcPts val="0"/>
              </a:spcAft>
              <a:buNone/>
            </a:pPr>
            <a:r>
              <a:rPr lang="en" sz="1800">
                <a:solidFill>
                  <a:srgbClr val="24292F"/>
                </a:solidFill>
              </a:rPr>
              <a:t>The NIH has lists of suggested repositories. If you can’t find one, you can use an institutional (if available) or generalist repository.</a:t>
            </a:r>
            <a:endParaRPr sz="1800">
              <a:solidFill>
                <a:srgbClr val="24292F"/>
              </a:solidFill>
            </a:endParaRPr>
          </a:p>
          <a:p>
            <a:pPr indent="0" lvl="0" marL="0" rtl="0" algn="l">
              <a:lnSpc>
                <a:spcPct val="50000"/>
              </a:lnSpc>
              <a:spcBef>
                <a:spcPts val="300"/>
              </a:spcBef>
              <a:spcAft>
                <a:spcPts val="0"/>
              </a:spcAft>
              <a:buNone/>
            </a:pPr>
            <a:r>
              <a:t/>
            </a:r>
            <a:endParaRPr sz="1800">
              <a:solidFill>
                <a:srgbClr val="24292F"/>
              </a:solidFill>
            </a:endParaRPr>
          </a:p>
          <a:p>
            <a:pPr indent="0" lvl="0" marL="0" rtl="0" algn="l">
              <a:lnSpc>
                <a:spcPct val="115000"/>
              </a:lnSpc>
              <a:spcBef>
                <a:spcPts val="300"/>
              </a:spcBef>
              <a:spcAft>
                <a:spcPts val="0"/>
              </a:spcAft>
              <a:buNone/>
            </a:pPr>
            <a:r>
              <a:rPr lang="en" sz="1800">
                <a:solidFill>
                  <a:srgbClr val="24292F"/>
                </a:solidFill>
              </a:rPr>
              <a:t>You may request funds for data management and sharing in direct costs. Infrastructure costs should be budgeted as indirect costs.</a:t>
            </a:r>
            <a:endParaRPr sz="1800">
              <a:solidFill>
                <a:srgbClr val="24292F"/>
              </a:solidFill>
            </a:endParaRPr>
          </a:p>
          <a:p>
            <a:pPr indent="0" lvl="0" marL="0" rtl="0" algn="l">
              <a:lnSpc>
                <a:spcPct val="50000"/>
              </a:lnSpc>
              <a:spcBef>
                <a:spcPts val="300"/>
              </a:spcBef>
              <a:spcAft>
                <a:spcPts val="0"/>
              </a:spcAft>
              <a:buNone/>
            </a:pPr>
            <a:r>
              <a:t/>
            </a:r>
            <a:endParaRPr sz="1800">
              <a:solidFill>
                <a:srgbClr val="24292F"/>
              </a:solidFill>
            </a:endParaRPr>
          </a:p>
          <a:p>
            <a:pPr indent="0" lvl="0" marL="0" rtl="0" algn="l">
              <a:lnSpc>
                <a:spcPct val="115000"/>
              </a:lnSpc>
              <a:spcBef>
                <a:spcPts val="300"/>
              </a:spcBef>
              <a:spcAft>
                <a:spcPts val="0"/>
              </a:spcAft>
              <a:buNone/>
            </a:pPr>
            <a:r>
              <a:rPr lang="en" sz="1800">
                <a:solidFill>
                  <a:srgbClr val="24292F"/>
                </a:solidFill>
              </a:rPr>
              <a:t>Your plan should be &lt; 2 pages. You can change your plan in the just-in-time process or during regular reporting intervals.</a:t>
            </a:r>
            <a:endParaRPr sz="1800">
              <a:solidFill>
                <a:srgbClr val="24292F"/>
              </a:solidFill>
            </a:endParaRPr>
          </a:p>
          <a:p>
            <a:pPr indent="0" lvl="0" marL="0" rtl="0" algn="l">
              <a:lnSpc>
                <a:spcPct val="50000"/>
              </a:lnSpc>
              <a:spcBef>
                <a:spcPts val="300"/>
              </a:spcBef>
              <a:spcAft>
                <a:spcPts val="0"/>
              </a:spcAft>
              <a:buNone/>
            </a:pPr>
            <a:r>
              <a:t/>
            </a:r>
            <a:endParaRPr sz="1800">
              <a:solidFill>
                <a:srgbClr val="24292F"/>
              </a:solidFill>
            </a:endParaRPr>
          </a:p>
          <a:p>
            <a:pPr indent="0" lvl="0" marL="0" rtl="0" algn="l">
              <a:lnSpc>
                <a:spcPct val="115000"/>
              </a:lnSpc>
              <a:spcBef>
                <a:spcPts val="300"/>
              </a:spcBef>
              <a:spcAft>
                <a:spcPts val="0"/>
              </a:spcAft>
              <a:buNone/>
            </a:pPr>
            <a:r>
              <a:rPr lang="en" sz="1800">
                <a:solidFill>
                  <a:srgbClr val="24292F"/>
                </a:solidFill>
              </a:rPr>
              <a:t>Your plan will not be shared with reviewers, however the budget will be.</a:t>
            </a:r>
            <a:endParaRPr sz="1800">
              <a:solidFill>
                <a:srgbClr val="24292F"/>
              </a:solidFill>
            </a:endParaRPr>
          </a:p>
        </p:txBody>
      </p:sp>
      <p:sp>
        <p:nvSpPr>
          <p:cNvPr id="218" name="Google Shape;218;p19"/>
          <p:cNvSpPr txBox="1"/>
          <p:nvPr/>
        </p:nvSpPr>
        <p:spPr>
          <a:xfrm rot="-614">
            <a:off x="331550" y="80816"/>
            <a:ext cx="8396400" cy="5388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300">
                <a:solidFill>
                  <a:schemeClr val="dk1"/>
                </a:solidFill>
                <a:latin typeface="Indie Flower"/>
                <a:ea typeface="Indie Flower"/>
                <a:cs typeface="Indie Flower"/>
                <a:sym typeface="Indie Flower"/>
              </a:rPr>
              <a:t>Major Takeaways for the NIH Data Management &amp; Sharing Policy</a:t>
            </a:r>
            <a:endParaRPr sz="2300">
              <a:solidFill>
                <a:schemeClr val="dk1"/>
              </a:solidFill>
              <a:latin typeface="Indie Flower"/>
              <a:ea typeface="Indie Flower"/>
              <a:cs typeface="Indie Flower"/>
              <a:sym typeface="Indie Flower"/>
            </a:endParaRPr>
          </a:p>
        </p:txBody>
      </p:sp>
      <p:pic>
        <p:nvPicPr>
          <p:cNvPr id="219" name="Google Shape;219;p19"/>
          <p:cNvPicPr preferRelativeResize="0"/>
          <p:nvPr/>
        </p:nvPicPr>
        <p:blipFill>
          <a:blip r:embed="rId3">
            <a:alphaModFix/>
          </a:blip>
          <a:stretch>
            <a:fillRect/>
          </a:stretch>
        </p:blipFill>
        <p:spPr>
          <a:xfrm>
            <a:off x="642975" y="669913"/>
            <a:ext cx="457925" cy="457925"/>
          </a:xfrm>
          <a:prstGeom prst="rect">
            <a:avLst/>
          </a:prstGeom>
          <a:noFill/>
          <a:ln>
            <a:noFill/>
          </a:ln>
        </p:spPr>
      </p:pic>
      <p:pic>
        <p:nvPicPr>
          <p:cNvPr id="220" name="Google Shape;220;p19"/>
          <p:cNvPicPr preferRelativeResize="0"/>
          <p:nvPr/>
        </p:nvPicPr>
        <p:blipFill rotWithShape="1">
          <a:blip r:embed="rId4">
            <a:alphaModFix/>
          </a:blip>
          <a:srcRect b="0" l="0" r="0" t="0"/>
          <a:stretch/>
        </p:blipFill>
        <p:spPr>
          <a:xfrm>
            <a:off x="617238" y="1282975"/>
            <a:ext cx="509400" cy="509400"/>
          </a:xfrm>
          <a:prstGeom prst="rect">
            <a:avLst/>
          </a:prstGeom>
          <a:noFill/>
          <a:ln>
            <a:noFill/>
          </a:ln>
        </p:spPr>
      </p:pic>
      <p:pic>
        <p:nvPicPr>
          <p:cNvPr id="221" name="Google Shape;221;p19"/>
          <p:cNvPicPr preferRelativeResize="0"/>
          <p:nvPr/>
        </p:nvPicPr>
        <p:blipFill rotWithShape="1">
          <a:blip r:embed="rId5">
            <a:alphaModFix/>
          </a:blip>
          <a:srcRect b="0" l="0" r="0" t="0"/>
          <a:stretch/>
        </p:blipFill>
        <p:spPr>
          <a:xfrm>
            <a:off x="642975" y="2066213"/>
            <a:ext cx="457925" cy="457925"/>
          </a:xfrm>
          <a:prstGeom prst="rect">
            <a:avLst/>
          </a:prstGeom>
          <a:noFill/>
          <a:ln>
            <a:noFill/>
          </a:ln>
        </p:spPr>
      </p:pic>
      <p:pic>
        <p:nvPicPr>
          <p:cNvPr id="222" name="Google Shape;222;p19"/>
          <p:cNvPicPr preferRelativeResize="0"/>
          <p:nvPr/>
        </p:nvPicPr>
        <p:blipFill rotWithShape="1">
          <a:blip r:embed="rId6">
            <a:alphaModFix/>
          </a:blip>
          <a:srcRect b="0" l="0" r="0" t="0"/>
          <a:stretch/>
        </p:blipFill>
        <p:spPr>
          <a:xfrm>
            <a:off x="664775" y="2981487"/>
            <a:ext cx="414324" cy="414324"/>
          </a:xfrm>
          <a:prstGeom prst="rect">
            <a:avLst/>
          </a:prstGeom>
          <a:noFill/>
          <a:ln>
            <a:noFill/>
          </a:ln>
        </p:spPr>
      </p:pic>
      <p:pic>
        <p:nvPicPr>
          <p:cNvPr id="223" name="Google Shape;223;p19"/>
          <p:cNvPicPr preferRelativeResize="0"/>
          <p:nvPr/>
        </p:nvPicPr>
        <p:blipFill rotWithShape="1">
          <a:blip r:embed="rId7">
            <a:alphaModFix/>
          </a:blip>
          <a:srcRect b="0" l="0" r="0" t="0"/>
          <a:stretch/>
        </p:blipFill>
        <p:spPr>
          <a:xfrm>
            <a:off x="642975" y="3744199"/>
            <a:ext cx="457925" cy="457902"/>
          </a:xfrm>
          <a:prstGeom prst="rect">
            <a:avLst/>
          </a:prstGeom>
          <a:noFill/>
          <a:ln>
            <a:noFill/>
          </a:ln>
        </p:spPr>
      </p:pic>
      <p:pic>
        <p:nvPicPr>
          <p:cNvPr id="224" name="Google Shape;224;p19"/>
          <p:cNvPicPr preferRelativeResize="0"/>
          <p:nvPr/>
        </p:nvPicPr>
        <p:blipFill rotWithShape="1">
          <a:blip r:embed="rId8">
            <a:alphaModFix/>
          </a:blip>
          <a:srcRect b="0" l="0" r="0" t="0"/>
          <a:stretch/>
        </p:blipFill>
        <p:spPr>
          <a:xfrm>
            <a:off x="642975" y="4508250"/>
            <a:ext cx="457925" cy="457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nvSpPr>
        <p:spPr>
          <a:xfrm>
            <a:off x="1998925" y="988550"/>
            <a:ext cx="6984000" cy="330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3000">
                <a:solidFill>
                  <a:srgbClr val="24292F"/>
                </a:solidFill>
                <a:highlight>
                  <a:srgbClr val="FFFFFF"/>
                </a:highlight>
              </a:rPr>
              <a:t>Why this change?</a:t>
            </a:r>
            <a:r>
              <a:rPr lang="en" sz="3000">
                <a:solidFill>
                  <a:srgbClr val="24292F"/>
                </a:solidFill>
                <a:highlight>
                  <a:srgbClr val="FFFFFF"/>
                </a:highlight>
              </a:rPr>
              <a:t> As of January 23, 2023, the NIH is requiring all grant proposals include a Data Management and Sharing Plan to aid in the transparency and reproducibility of NIH-funded research.</a:t>
            </a:r>
            <a:endParaRPr sz="3000">
              <a:solidFill>
                <a:srgbClr val="24292F"/>
              </a:solidFill>
              <a:highlight>
                <a:srgbClr val="FFFFFF"/>
              </a:highlight>
            </a:endParaRPr>
          </a:p>
        </p:txBody>
      </p:sp>
      <p:sp>
        <p:nvSpPr>
          <p:cNvPr id="230" name="Google Shape;230;p20"/>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pic>
        <p:nvPicPr>
          <p:cNvPr id="231" name="Google Shape;231;p20"/>
          <p:cNvPicPr preferRelativeResize="0"/>
          <p:nvPr/>
        </p:nvPicPr>
        <p:blipFill>
          <a:blip r:embed="rId3">
            <a:alphaModFix/>
          </a:blip>
          <a:stretch>
            <a:fillRect/>
          </a:stretch>
        </p:blipFill>
        <p:spPr>
          <a:xfrm>
            <a:off x="414875" y="1008325"/>
            <a:ext cx="1371600" cy="1371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21"/>
          <p:cNvPicPr preferRelativeResize="0"/>
          <p:nvPr/>
        </p:nvPicPr>
        <p:blipFill rotWithShape="1">
          <a:blip r:embed="rId3">
            <a:alphaModFix/>
          </a:blip>
          <a:srcRect b="0" l="0" r="0" t="0"/>
          <a:stretch/>
        </p:blipFill>
        <p:spPr>
          <a:xfrm>
            <a:off x="414863" y="1008325"/>
            <a:ext cx="1371600" cy="1371600"/>
          </a:xfrm>
          <a:prstGeom prst="rect">
            <a:avLst/>
          </a:prstGeom>
          <a:noFill/>
          <a:ln>
            <a:noFill/>
          </a:ln>
        </p:spPr>
      </p:pic>
      <p:sp>
        <p:nvSpPr>
          <p:cNvPr id="237" name="Google Shape;237;p21"/>
          <p:cNvSpPr txBox="1"/>
          <p:nvPr/>
        </p:nvSpPr>
        <p:spPr>
          <a:xfrm>
            <a:off x="1998925" y="988550"/>
            <a:ext cx="6984000" cy="358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00"/>
              </a:spcBef>
              <a:spcAft>
                <a:spcPts val="0"/>
              </a:spcAft>
              <a:buClr>
                <a:schemeClr val="lt1"/>
              </a:buClr>
              <a:buSzPts val="1100"/>
              <a:buFont typeface="Arial"/>
              <a:buNone/>
            </a:pPr>
            <a:r>
              <a:rPr b="1" lang="en" sz="2800">
                <a:solidFill>
                  <a:srgbClr val="24292F"/>
                </a:solidFill>
                <a:highlight>
                  <a:srgbClr val="FFFFFF"/>
                </a:highlight>
              </a:rPr>
              <a:t>Does this apply to me?</a:t>
            </a:r>
            <a:r>
              <a:rPr lang="en" sz="2800">
                <a:solidFill>
                  <a:srgbClr val="24292F"/>
                </a:solidFill>
                <a:highlight>
                  <a:srgbClr val="FFFFFF"/>
                </a:highlight>
              </a:rPr>
              <a:t> This will apply to most grants that create data, although some grant mechanisms and some data are exempt. </a:t>
            </a:r>
            <a:r>
              <a:rPr b="1" lang="en" sz="2800">
                <a:solidFill>
                  <a:srgbClr val="24292F"/>
                </a:solidFill>
                <a:highlight>
                  <a:srgbClr val="E8EBEE"/>
                </a:highlight>
              </a:rPr>
              <a:t>It is not required to share all data</a:t>
            </a:r>
            <a:r>
              <a:rPr lang="en" sz="2800">
                <a:solidFill>
                  <a:srgbClr val="24292F"/>
                </a:solidFill>
                <a:highlight>
                  <a:srgbClr val="E8EBEE"/>
                </a:highlight>
              </a:rPr>
              <a:t>,</a:t>
            </a:r>
            <a:r>
              <a:rPr lang="en" sz="2800">
                <a:solidFill>
                  <a:srgbClr val="24292F"/>
                </a:solidFill>
                <a:highlight>
                  <a:srgbClr val="FFFFFF"/>
                </a:highlight>
              </a:rPr>
              <a:t> however a justification is required. Reasons not to share that are acceptable may be ethical, technical, or legal.</a:t>
            </a:r>
            <a:endParaRPr b="1" sz="2800">
              <a:solidFill>
                <a:srgbClr val="24292F"/>
              </a:solidFill>
              <a:highlight>
                <a:srgbClr val="FFFFFF"/>
              </a:highlight>
            </a:endParaRPr>
          </a:p>
        </p:txBody>
      </p:sp>
      <p:sp>
        <p:nvSpPr>
          <p:cNvPr id="238" name="Google Shape;238;p21"/>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2"/>
          <p:cNvPicPr preferRelativeResize="0"/>
          <p:nvPr/>
        </p:nvPicPr>
        <p:blipFill rotWithShape="1">
          <a:blip r:embed="rId3">
            <a:alphaModFix/>
          </a:blip>
          <a:srcRect b="0" l="0" r="0" t="0"/>
          <a:stretch/>
        </p:blipFill>
        <p:spPr>
          <a:xfrm>
            <a:off x="414863" y="1008325"/>
            <a:ext cx="1371600" cy="1371600"/>
          </a:xfrm>
          <a:prstGeom prst="rect">
            <a:avLst/>
          </a:prstGeom>
          <a:noFill/>
          <a:ln>
            <a:noFill/>
          </a:ln>
        </p:spPr>
      </p:pic>
      <p:sp>
        <p:nvSpPr>
          <p:cNvPr id="244" name="Google Shape;244;p22"/>
          <p:cNvSpPr txBox="1"/>
          <p:nvPr/>
        </p:nvSpPr>
        <p:spPr>
          <a:xfrm>
            <a:off x="1998925" y="988550"/>
            <a:ext cx="6984000" cy="3843600"/>
          </a:xfrm>
          <a:prstGeom prst="rect">
            <a:avLst/>
          </a:prstGeom>
          <a:noFill/>
          <a:ln>
            <a:noFill/>
          </a:ln>
        </p:spPr>
        <p:txBody>
          <a:bodyPr anchorCtr="0" anchor="t" bIns="91425" lIns="91425" spcFirstLastPara="1" rIns="91425" wrap="square" tIns="91425">
            <a:spAutoFit/>
          </a:bodyPr>
          <a:lstStyle/>
          <a:p>
            <a:pPr indent="0" lvl="0" marL="0" rtl="0" algn="l">
              <a:lnSpc>
                <a:spcPct val="50000"/>
              </a:lnSpc>
              <a:spcBef>
                <a:spcPts val="300"/>
              </a:spcBef>
              <a:spcAft>
                <a:spcPts val="0"/>
              </a:spcAft>
              <a:buClr>
                <a:schemeClr val="lt1"/>
              </a:buClr>
              <a:buSzPts val="1100"/>
              <a:buFont typeface="Arial"/>
              <a:buNone/>
            </a:pPr>
            <a:r>
              <a:t/>
            </a:r>
            <a:endParaRPr sz="2800">
              <a:solidFill>
                <a:srgbClr val="24292F"/>
              </a:solidFill>
              <a:highlight>
                <a:srgbClr val="FFFFFF"/>
              </a:highlight>
            </a:endParaRPr>
          </a:p>
          <a:p>
            <a:pPr indent="0" lvl="0" marL="0" rtl="0" algn="l">
              <a:lnSpc>
                <a:spcPct val="115000"/>
              </a:lnSpc>
              <a:spcBef>
                <a:spcPts val="300"/>
              </a:spcBef>
              <a:spcAft>
                <a:spcPts val="0"/>
              </a:spcAft>
              <a:buClr>
                <a:schemeClr val="lt1"/>
              </a:buClr>
              <a:buSzPts val="1100"/>
              <a:buFont typeface="Arial"/>
              <a:buNone/>
            </a:pPr>
            <a:r>
              <a:rPr b="1" lang="en" sz="2800">
                <a:solidFill>
                  <a:srgbClr val="24292F"/>
                </a:solidFill>
                <a:highlight>
                  <a:srgbClr val="FFFFFF"/>
                </a:highlight>
              </a:rPr>
              <a:t>Where should I share my data?</a:t>
            </a:r>
            <a:r>
              <a:rPr lang="en" sz="2800">
                <a:solidFill>
                  <a:srgbClr val="24292F"/>
                </a:solidFill>
                <a:highlight>
                  <a:srgbClr val="FFFFFF"/>
                </a:highlight>
              </a:rPr>
              <a:t> The NIH has lists of suggested repositories, and you will need to choose the most appropriate. If there is not an appropriate repository, you can share your data at an institutional (if available) or generalist repository.</a:t>
            </a:r>
            <a:endParaRPr b="1" sz="2800">
              <a:solidFill>
                <a:srgbClr val="24292F"/>
              </a:solidFill>
              <a:highlight>
                <a:srgbClr val="FFFFFF"/>
              </a:highlight>
            </a:endParaRPr>
          </a:p>
        </p:txBody>
      </p:sp>
      <p:sp>
        <p:nvSpPr>
          <p:cNvPr id="245" name="Google Shape;245;p22"/>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p23"/>
          <p:cNvPicPr preferRelativeResize="0"/>
          <p:nvPr/>
        </p:nvPicPr>
        <p:blipFill rotWithShape="1">
          <a:blip r:embed="rId3">
            <a:alphaModFix/>
          </a:blip>
          <a:srcRect b="0" l="0" r="0" t="0"/>
          <a:stretch/>
        </p:blipFill>
        <p:spPr>
          <a:xfrm>
            <a:off x="414863" y="1008325"/>
            <a:ext cx="1371600" cy="1371600"/>
          </a:xfrm>
          <a:prstGeom prst="rect">
            <a:avLst/>
          </a:prstGeom>
          <a:noFill/>
          <a:ln>
            <a:noFill/>
          </a:ln>
        </p:spPr>
      </p:pic>
      <p:sp>
        <p:nvSpPr>
          <p:cNvPr id="251" name="Google Shape;251;p23"/>
          <p:cNvSpPr txBox="1"/>
          <p:nvPr/>
        </p:nvSpPr>
        <p:spPr>
          <a:xfrm>
            <a:off x="1998925" y="988550"/>
            <a:ext cx="6984000" cy="259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00"/>
              </a:spcBef>
              <a:spcAft>
                <a:spcPts val="0"/>
              </a:spcAft>
              <a:buClr>
                <a:schemeClr val="lt1"/>
              </a:buClr>
              <a:buSzPts val="1100"/>
              <a:buFont typeface="Arial"/>
              <a:buNone/>
            </a:pPr>
            <a:r>
              <a:rPr b="1" lang="en" sz="2800">
                <a:solidFill>
                  <a:srgbClr val="24292F"/>
                </a:solidFill>
                <a:highlight>
                  <a:srgbClr val="FFFFFF"/>
                </a:highlight>
              </a:rPr>
              <a:t>How do I budget this? </a:t>
            </a:r>
            <a:r>
              <a:rPr lang="en" sz="2800">
                <a:solidFill>
                  <a:srgbClr val="24292F"/>
                </a:solidFill>
                <a:highlight>
                  <a:srgbClr val="FFFFFF"/>
                </a:highlight>
              </a:rPr>
              <a:t>You may request funds for data management and sharing in direct costs. You may not infrastructure costs in direct costs as these should be included as indirect costs.</a:t>
            </a:r>
            <a:endParaRPr b="1" sz="2800">
              <a:solidFill>
                <a:srgbClr val="24292F"/>
              </a:solidFill>
              <a:highlight>
                <a:srgbClr val="FFFFFF"/>
              </a:highlight>
            </a:endParaRPr>
          </a:p>
        </p:txBody>
      </p:sp>
      <p:sp>
        <p:nvSpPr>
          <p:cNvPr id="252" name="Google Shape;252;p23"/>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pic>
        <p:nvPicPr>
          <p:cNvPr id="257" name="Google Shape;257;p24"/>
          <p:cNvPicPr preferRelativeResize="0"/>
          <p:nvPr/>
        </p:nvPicPr>
        <p:blipFill rotWithShape="1">
          <a:blip r:embed="rId3">
            <a:alphaModFix/>
          </a:blip>
          <a:srcRect b="0" l="0" r="0" t="0"/>
          <a:stretch/>
        </p:blipFill>
        <p:spPr>
          <a:xfrm>
            <a:off x="414863" y="1008325"/>
            <a:ext cx="1371600" cy="1371600"/>
          </a:xfrm>
          <a:prstGeom prst="rect">
            <a:avLst/>
          </a:prstGeom>
          <a:noFill/>
          <a:ln>
            <a:noFill/>
          </a:ln>
        </p:spPr>
      </p:pic>
      <p:sp>
        <p:nvSpPr>
          <p:cNvPr id="258" name="Google Shape;258;p24"/>
          <p:cNvSpPr txBox="1"/>
          <p:nvPr/>
        </p:nvSpPr>
        <p:spPr>
          <a:xfrm>
            <a:off x="1872200" y="787900"/>
            <a:ext cx="7358700" cy="461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00"/>
              </a:spcBef>
              <a:spcAft>
                <a:spcPts val="0"/>
              </a:spcAft>
              <a:buClr>
                <a:schemeClr val="lt1"/>
              </a:buClr>
              <a:buSzPts val="1100"/>
              <a:buFont typeface="Arial"/>
              <a:buNone/>
            </a:pPr>
            <a:r>
              <a:rPr b="1" lang="en" sz="2800">
                <a:solidFill>
                  <a:srgbClr val="24292F"/>
                </a:solidFill>
                <a:highlight>
                  <a:srgbClr val="FFFFFF"/>
                </a:highlight>
              </a:rPr>
              <a:t>How do I write my plan? </a:t>
            </a:r>
            <a:r>
              <a:rPr lang="en" sz="2800">
                <a:solidFill>
                  <a:srgbClr val="24292F"/>
                </a:solidFill>
                <a:highlight>
                  <a:srgbClr val="FFFFFF"/>
                </a:highlight>
              </a:rPr>
              <a:t>Your plan should be &lt; 2 pages and include sections on data type; tools, software, and code; standards; data preservation, access, and timelines; access, distribution, and reuse considerations; and oversight. </a:t>
            </a:r>
            <a:r>
              <a:rPr b="1" lang="en" sz="2800">
                <a:solidFill>
                  <a:srgbClr val="24292F"/>
                </a:solidFill>
                <a:highlight>
                  <a:srgbClr val="E8EBEE"/>
                </a:highlight>
              </a:rPr>
              <a:t>You can change your plan</a:t>
            </a:r>
            <a:r>
              <a:rPr lang="en" sz="2800">
                <a:solidFill>
                  <a:srgbClr val="24292F"/>
                </a:solidFill>
                <a:highlight>
                  <a:srgbClr val="FFFFFF"/>
                </a:highlight>
              </a:rPr>
              <a:t> in the just-in-time process or during regular reporting intervals.</a:t>
            </a:r>
            <a:endParaRPr sz="2800">
              <a:solidFill>
                <a:srgbClr val="24292F"/>
              </a:solidFill>
              <a:highlight>
                <a:srgbClr val="FFFFFF"/>
              </a:highlight>
            </a:endParaRPr>
          </a:p>
          <a:p>
            <a:pPr indent="0" lvl="0" marL="0" rtl="0" algn="l">
              <a:lnSpc>
                <a:spcPct val="115000"/>
              </a:lnSpc>
              <a:spcBef>
                <a:spcPts val="300"/>
              </a:spcBef>
              <a:spcAft>
                <a:spcPts val="0"/>
              </a:spcAft>
              <a:buClr>
                <a:schemeClr val="lt1"/>
              </a:buClr>
              <a:buSzPts val="1100"/>
              <a:buFont typeface="Arial"/>
              <a:buNone/>
            </a:pPr>
            <a:r>
              <a:t/>
            </a:r>
            <a:endParaRPr b="1" sz="2800">
              <a:solidFill>
                <a:srgbClr val="24292F"/>
              </a:solidFill>
              <a:highlight>
                <a:srgbClr val="FFFFFF"/>
              </a:highlight>
            </a:endParaRPr>
          </a:p>
        </p:txBody>
      </p:sp>
      <p:sp>
        <p:nvSpPr>
          <p:cNvPr id="259" name="Google Shape;259;p24"/>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25"/>
          <p:cNvPicPr preferRelativeResize="0"/>
          <p:nvPr/>
        </p:nvPicPr>
        <p:blipFill rotWithShape="1">
          <a:blip r:embed="rId3">
            <a:alphaModFix/>
          </a:blip>
          <a:srcRect b="0" l="0" r="0" t="0"/>
          <a:stretch/>
        </p:blipFill>
        <p:spPr>
          <a:xfrm>
            <a:off x="414863" y="1008325"/>
            <a:ext cx="1371600" cy="1371600"/>
          </a:xfrm>
          <a:prstGeom prst="rect">
            <a:avLst/>
          </a:prstGeom>
          <a:noFill/>
          <a:ln>
            <a:noFill/>
          </a:ln>
        </p:spPr>
      </p:pic>
      <p:sp>
        <p:nvSpPr>
          <p:cNvPr id="265" name="Google Shape;265;p25"/>
          <p:cNvSpPr txBox="1"/>
          <p:nvPr/>
        </p:nvSpPr>
        <p:spPr>
          <a:xfrm>
            <a:off x="1998925" y="988550"/>
            <a:ext cx="6534900" cy="358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300"/>
              </a:spcBef>
              <a:spcAft>
                <a:spcPts val="0"/>
              </a:spcAft>
              <a:buClr>
                <a:schemeClr val="lt1"/>
              </a:buClr>
              <a:buSzPts val="1100"/>
              <a:buFont typeface="Arial"/>
              <a:buNone/>
            </a:pPr>
            <a:r>
              <a:rPr b="1" lang="en" sz="2800">
                <a:solidFill>
                  <a:srgbClr val="24292F"/>
                </a:solidFill>
                <a:highlight>
                  <a:srgbClr val="FFFFFF"/>
                </a:highlight>
              </a:rPr>
              <a:t>Will my plan influence my grant score?</a:t>
            </a:r>
            <a:r>
              <a:rPr lang="en" sz="2800">
                <a:solidFill>
                  <a:srgbClr val="24292F"/>
                </a:solidFill>
                <a:highlight>
                  <a:srgbClr val="FFFFFF"/>
                </a:highlight>
              </a:rPr>
              <a:t> Although the Data Management and Sharing Plan is a mandatory part of most grant proposals, it will not be shared with reviewers and thus will not influence your score, however the budget will be visible to reviewers.</a:t>
            </a:r>
            <a:endParaRPr b="1" sz="2800">
              <a:solidFill>
                <a:srgbClr val="24292F"/>
              </a:solidFill>
              <a:highlight>
                <a:srgbClr val="FFFFFF"/>
              </a:highlight>
            </a:endParaRPr>
          </a:p>
        </p:txBody>
      </p:sp>
      <p:sp>
        <p:nvSpPr>
          <p:cNvPr id="266" name="Google Shape;266;p25"/>
          <p:cNvSpPr txBox="1"/>
          <p:nvPr/>
        </p:nvSpPr>
        <p:spPr>
          <a:xfrm rot="-678">
            <a:off x="725525" y="127226"/>
            <a:ext cx="7606200" cy="5079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2100">
                <a:solidFill>
                  <a:schemeClr val="dk1"/>
                </a:solidFill>
                <a:latin typeface="Indie Flower"/>
                <a:ea typeface="Indie Flower"/>
                <a:cs typeface="Indie Flower"/>
                <a:sym typeface="Indie Flower"/>
              </a:rPr>
              <a:t>Major Takeaways for the NIH Data Management &amp; Sharing Policy</a:t>
            </a:r>
            <a:endParaRPr sz="2100">
              <a:solidFill>
                <a:schemeClr val="dk1"/>
              </a:solidFill>
              <a:latin typeface="Indie Flower"/>
              <a:ea typeface="Indie Flower"/>
              <a:cs typeface="Indie Flower"/>
              <a:sym typeface="Indie Flow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p:nvPr/>
        </p:nvSpPr>
        <p:spPr>
          <a:xfrm>
            <a:off x="3445043" y="1772938"/>
            <a:ext cx="2084700" cy="1508700"/>
          </a:xfrm>
          <a:prstGeom prst="roundRect">
            <a:avLst>
              <a:gd fmla="val 16667" name="adj"/>
            </a:avLst>
          </a:prstGeom>
          <a:solidFill>
            <a:srgbClr val="FFB100">
              <a:alpha val="44640"/>
            </a:srgbClr>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6"/>
          <p:cNvSpPr/>
          <p:nvPr/>
        </p:nvSpPr>
        <p:spPr>
          <a:xfrm>
            <a:off x="6043099" y="2299338"/>
            <a:ext cx="2084700" cy="1508700"/>
          </a:xfrm>
          <a:prstGeom prst="roundRect">
            <a:avLst>
              <a:gd fmla="val 16667" name="adj"/>
            </a:avLst>
          </a:prstGeom>
          <a:solidFill>
            <a:srgbClr val="B842CA">
              <a:alpha val="38100"/>
            </a:srgbClr>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6"/>
          <p:cNvSpPr txBox="1"/>
          <p:nvPr/>
        </p:nvSpPr>
        <p:spPr>
          <a:xfrm>
            <a:off x="3713093" y="2111638"/>
            <a:ext cx="15486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Lato"/>
                <a:ea typeface="Lato"/>
                <a:cs typeface="Lato"/>
                <a:sym typeface="Lato"/>
              </a:rPr>
              <a:t>Creating </a:t>
            </a:r>
            <a:endParaRPr b="1" sz="2100">
              <a:solidFill>
                <a:schemeClr val="dk1"/>
              </a:solidFill>
              <a:latin typeface="Lato"/>
              <a:ea typeface="Lato"/>
              <a:cs typeface="Lato"/>
              <a:sym typeface="Lato"/>
            </a:endParaRPr>
          </a:p>
          <a:p>
            <a:pPr indent="0" lvl="0" marL="0" rtl="0" algn="ctr">
              <a:spcBef>
                <a:spcPts val="0"/>
              </a:spcBef>
              <a:spcAft>
                <a:spcPts val="0"/>
              </a:spcAft>
              <a:buNone/>
            </a:pPr>
            <a:r>
              <a:rPr b="1" lang="en" sz="2100">
                <a:solidFill>
                  <a:schemeClr val="dk1"/>
                </a:solidFill>
                <a:latin typeface="Lato"/>
                <a:ea typeface="Lato"/>
                <a:cs typeface="Lato"/>
                <a:sym typeface="Lato"/>
              </a:rPr>
              <a:t>a DMS Plan</a:t>
            </a:r>
            <a:endParaRPr b="1" sz="2100">
              <a:solidFill>
                <a:schemeClr val="dk1"/>
              </a:solidFill>
              <a:latin typeface="Lato"/>
              <a:ea typeface="Lato"/>
              <a:cs typeface="Lato"/>
              <a:sym typeface="Lato"/>
            </a:endParaRPr>
          </a:p>
        </p:txBody>
      </p:sp>
      <p:sp>
        <p:nvSpPr>
          <p:cNvPr id="274" name="Google Shape;274;p26"/>
          <p:cNvSpPr txBox="1"/>
          <p:nvPr/>
        </p:nvSpPr>
        <p:spPr>
          <a:xfrm>
            <a:off x="5878849" y="2476488"/>
            <a:ext cx="2413200" cy="1154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Lato"/>
                <a:ea typeface="Lato"/>
                <a:cs typeface="Lato"/>
                <a:sym typeface="Lato"/>
              </a:rPr>
              <a:t>DMS </a:t>
            </a:r>
            <a:endParaRPr b="1" sz="2100">
              <a:solidFill>
                <a:schemeClr val="dk1"/>
              </a:solidFill>
              <a:latin typeface="Lato"/>
              <a:ea typeface="Lato"/>
              <a:cs typeface="Lato"/>
              <a:sym typeface="Lato"/>
            </a:endParaRPr>
          </a:p>
          <a:p>
            <a:pPr indent="0" lvl="0" marL="0" rtl="0" algn="ctr">
              <a:spcBef>
                <a:spcPts val="0"/>
              </a:spcBef>
              <a:spcAft>
                <a:spcPts val="0"/>
              </a:spcAft>
              <a:buNone/>
            </a:pPr>
            <a:r>
              <a:rPr b="1" lang="en" sz="2100">
                <a:solidFill>
                  <a:schemeClr val="dk1"/>
                </a:solidFill>
                <a:latin typeface="Lato"/>
                <a:ea typeface="Lato"/>
                <a:cs typeface="Lato"/>
                <a:sym typeface="Lato"/>
              </a:rPr>
              <a:t>Submission</a:t>
            </a:r>
            <a:endParaRPr b="1" sz="2100">
              <a:solidFill>
                <a:schemeClr val="dk1"/>
              </a:solidFill>
              <a:latin typeface="Lato"/>
              <a:ea typeface="Lato"/>
              <a:cs typeface="Lato"/>
              <a:sym typeface="Lato"/>
            </a:endParaRPr>
          </a:p>
          <a:p>
            <a:pPr indent="0" lvl="0" marL="0" rtl="0" algn="ctr">
              <a:spcBef>
                <a:spcPts val="0"/>
              </a:spcBef>
              <a:spcAft>
                <a:spcPts val="0"/>
              </a:spcAft>
              <a:buNone/>
            </a:pPr>
            <a:r>
              <a:rPr b="1" lang="en" sz="2100">
                <a:solidFill>
                  <a:schemeClr val="dk1"/>
                </a:solidFill>
                <a:latin typeface="Lato"/>
                <a:ea typeface="Lato"/>
                <a:cs typeface="Lato"/>
                <a:sym typeface="Lato"/>
              </a:rPr>
              <a:t> Process</a:t>
            </a:r>
            <a:endParaRPr b="1" sz="2100">
              <a:solidFill>
                <a:schemeClr val="dk1"/>
              </a:solidFill>
              <a:latin typeface="Lato"/>
              <a:ea typeface="Lato"/>
              <a:cs typeface="Lato"/>
              <a:sym typeface="Lato"/>
            </a:endParaRPr>
          </a:p>
        </p:txBody>
      </p:sp>
      <p:sp>
        <p:nvSpPr>
          <p:cNvPr id="275" name="Google Shape;275;p26"/>
          <p:cNvSpPr/>
          <p:nvPr/>
        </p:nvSpPr>
        <p:spPr>
          <a:xfrm>
            <a:off x="837201" y="2300388"/>
            <a:ext cx="2085900" cy="1506600"/>
          </a:xfrm>
          <a:prstGeom prst="roundRect">
            <a:avLst>
              <a:gd fmla="val 16667" name="adj"/>
            </a:avLst>
          </a:prstGeom>
          <a:solidFill>
            <a:srgbClr val="0A799A">
              <a:alpha val="38690"/>
            </a:srgbClr>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
          <p:cNvSpPr txBox="1"/>
          <p:nvPr/>
        </p:nvSpPr>
        <p:spPr>
          <a:xfrm>
            <a:off x="1032051" y="2476488"/>
            <a:ext cx="1696200" cy="1154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100">
                <a:solidFill>
                  <a:schemeClr val="dk1"/>
                </a:solidFill>
                <a:latin typeface="Lato"/>
                <a:ea typeface="Lato"/>
                <a:cs typeface="Lato"/>
                <a:sym typeface="Lato"/>
              </a:rPr>
              <a:t>Introducing the DMS Policy</a:t>
            </a:r>
            <a:endParaRPr b="1" sz="2100">
              <a:solidFill>
                <a:schemeClr val="dk1"/>
              </a:solidFill>
              <a:latin typeface="Lato"/>
              <a:ea typeface="Lato"/>
              <a:cs typeface="Lato"/>
              <a:sym typeface="Lato"/>
            </a:endParaRPr>
          </a:p>
        </p:txBody>
      </p:sp>
      <p:sp>
        <p:nvSpPr>
          <p:cNvPr id="277" name="Google Shape;277;p26"/>
          <p:cNvSpPr txBox="1"/>
          <p:nvPr/>
        </p:nvSpPr>
        <p:spPr>
          <a:xfrm rot="-678">
            <a:off x="711475" y="321855"/>
            <a:ext cx="7606200" cy="8157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dk1"/>
                </a:solidFill>
                <a:latin typeface="Indie Flower"/>
                <a:ea typeface="Indie Flower"/>
                <a:cs typeface="Indie Flower"/>
                <a:sym typeface="Indie Flower"/>
              </a:rPr>
              <a:t>NIH Data Management &amp; Sharing</a:t>
            </a:r>
            <a:endParaRPr sz="4100">
              <a:solidFill>
                <a:schemeClr val="dk1"/>
              </a:solidFill>
              <a:latin typeface="Indie Flower"/>
              <a:ea typeface="Indie Flower"/>
              <a:cs typeface="Indie Flower"/>
              <a:sym typeface="Indie Flower"/>
            </a:endParaRPr>
          </a:p>
        </p:txBody>
      </p:sp>
      <p:cxnSp>
        <p:nvCxnSpPr>
          <p:cNvPr id="278" name="Google Shape;278;p26"/>
          <p:cNvCxnSpPr/>
          <p:nvPr/>
        </p:nvCxnSpPr>
        <p:spPr>
          <a:xfrm flipH="1" rot="10800000">
            <a:off x="2991318" y="2527288"/>
            <a:ext cx="385500" cy="274800"/>
          </a:xfrm>
          <a:prstGeom prst="straightConnector1">
            <a:avLst/>
          </a:prstGeom>
          <a:noFill/>
          <a:ln cap="flat" cmpd="sng" w="9525">
            <a:solidFill>
              <a:schemeClr val="dk2"/>
            </a:solidFill>
            <a:prstDash val="solid"/>
            <a:round/>
            <a:headEnd len="med" w="med" type="none"/>
            <a:tailEnd len="med" w="med" type="triangle"/>
          </a:ln>
        </p:spPr>
      </p:cxnSp>
      <p:cxnSp>
        <p:nvCxnSpPr>
          <p:cNvPr id="279" name="Google Shape;279;p26"/>
          <p:cNvCxnSpPr/>
          <p:nvPr/>
        </p:nvCxnSpPr>
        <p:spPr>
          <a:xfrm>
            <a:off x="5585049" y="2527288"/>
            <a:ext cx="381300" cy="1734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id="284" name="Google Shape;284;p27"/>
          <p:cNvPicPr preferRelativeResize="0"/>
          <p:nvPr/>
        </p:nvPicPr>
        <p:blipFill rotWithShape="1">
          <a:blip r:embed="rId3">
            <a:alphaModFix/>
          </a:blip>
          <a:srcRect b="0" l="0" r="0" t="0"/>
          <a:stretch/>
        </p:blipFill>
        <p:spPr>
          <a:xfrm>
            <a:off x="3930110" y="3216685"/>
            <a:ext cx="1283789" cy="1283809"/>
          </a:xfrm>
          <a:prstGeom prst="rect">
            <a:avLst/>
          </a:prstGeom>
          <a:noFill/>
          <a:ln>
            <a:noFill/>
          </a:ln>
        </p:spPr>
      </p:pic>
      <p:pic>
        <p:nvPicPr>
          <p:cNvPr id="285" name="Google Shape;285;p27"/>
          <p:cNvPicPr preferRelativeResize="0"/>
          <p:nvPr/>
        </p:nvPicPr>
        <p:blipFill rotWithShape="1">
          <a:blip r:embed="rId4">
            <a:alphaModFix/>
          </a:blip>
          <a:srcRect b="0" l="0" r="0" t="0"/>
          <a:stretch/>
        </p:blipFill>
        <p:spPr>
          <a:xfrm>
            <a:off x="1505112" y="3216685"/>
            <a:ext cx="1283789" cy="1283809"/>
          </a:xfrm>
          <a:prstGeom prst="rect">
            <a:avLst/>
          </a:prstGeom>
          <a:noFill/>
          <a:ln>
            <a:noFill/>
          </a:ln>
        </p:spPr>
      </p:pic>
      <p:pic>
        <p:nvPicPr>
          <p:cNvPr id="286" name="Google Shape;286;p27"/>
          <p:cNvPicPr preferRelativeResize="0"/>
          <p:nvPr/>
        </p:nvPicPr>
        <p:blipFill rotWithShape="1">
          <a:blip r:embed="rId5">
            <a:alphaModFix/>
          </a:blip>
          <a:srcRect b="0" l="0" r="0" t="0"/>
          <a:stretch/>
        </p:blipFill>
        <p:spPr>
          <a:xfrm>
            <a:off x="2641936" y="1768025"/>
            <a:ext cx="1283789" cy="1283809"/>
          </a:xfrm>
          <a:prstGeom prst="rect">
            <a:avLst/>
          </a:prstGeom>
          <a:noFill/>
          <a:ln>
            <a:noFill/>
          </a:ln>
        </p:spPr>
      </p:pic>
      <p:pic>
        <p:nvPicPr>
          <p:cNvPr id="287" name="Google Shape;287;p27"/>
          <p:cNvPicPr preferRelativeResize="0"/>
          <p:nvPr/>
        </p:nvPicPr>
        <p:blipFill rotWithShape="1">
          <a:blip r:embed="rId6">
            <a:alphaModFix/>
          </a:blip>
          <a:srcRect b="0" l="0" r="0" t="0"/>
          <a:stretch/>
        </p:blipFill>
        <p:spPr>
          <a:xfrm>
            <a:off x="7567608" y="1768025"/>
            <a:ext cx="1283789" cy="1283809"/>
          </a:xfrm>
          <a:prstGeom prst="rect">
            <a:avLst/>
          </a:prstGeom>
          <a:noFill/>
          <a:ln>
            <a:noFill/>
          </a:ln>
        </p:spPr>
      </p:pic>
      <p:pic>
        <p:nvPicPr>
          <p:cNvPr id="288" name="Google Shape;288;p27"/>
          <p:cNvPicPr preferRelativeResize="0"/>
          <p:nvPr/>
        </p:nvPicPr>
        <p:blipFill rotWithShape="1">
          <a:blip r:embed="rId7">
            <a:alphaModFix/>
          </a:blip>
          <a:srcRect b="0" l="0" r="0" t="0"/>
          <a:stretch/>
        </p:blipFill>
        <p:spPr>
          <a:xfrm>
            <a:off x="6355109" y="3216685"/>
            <a:ext cx="1283789" cy="1283809"/>
          </a:xfrm>
          <a:prstGeom prst="rect">
            <a:avLst/>
          </a:prstGeom>
          <a:noFill/>
          <a:ln>
            <a:noFill/>
          </a:ln>
        </p:spPr>
      </p:pic>
      <p:pic>
        <p:nvPicPr>
          <p:cNvPr id="289" name="Google Shape;289;p27"/>
          <p:cNvPicPr preferRelativeResize="0"/>
          <p:nvPr/>
        </p:nvPicPr>
        <p:blipFill rotWithShape="1">
          <a:blip r:embed="rId8">
            <a:alphaModFix/>
          </a:blip>
          <a:srcRect b="0" l="0" r="0" t="0"/>
          <a:stretch/>
        </p:blipFill>
        <p:spPr>
          <a:xfrm>
            <a:off x="5142609" y="1768025"/>
            <a:ext cx="1283789" cy="1283809"/>
          </a:xfrm>
          <a:prstGeom prst="rect">
            <a:avLst/>
          </a:prstGeom>
          <a:noFill/>
          <a:ln>
            <a:noFill/>
          </a:ln>
        </p:spPr>
      </p:pic>
      <p:cxnSp>
        <p:nvCxnSpPr>
          <p:cNvPr id="290" name="Google Shape;290;p27"/>
          <p:cNvCxnSpPr>
            <a:stCxn id="291" idx="3"/>
            <a:endCxn id="285" idx="1"/>
          </p:cNvCxnSpPr>
          <p:nvPr/>
        </p:nvCxnSpPr>
        <p:spPr>
          <a:xfrm rot="5400000">
            <a:off x="816462" y="30985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292" name="Google Shape;292;p27"/>
          <p:cNvCxnSpPr>
            <a:stCxn id="285" idx="3"/>
            <a:endCxn id="286" idx="2"/>
          </p:cNvCxnSpPr>
          <p:nvPr/>
        </p:nvCxnSpPr>
        <p:spPr>
          <a:xfrm flipH="1" rot="10800000">
            <a:off x="2788900" y="30518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293" name="Google Shape;293;p27"/>
          <p:cNvCxnSpPr>
            <a:stCxn id="286" idx="3"/>
            <a:endCxn id="284" idx="0"/>
          </p:cNvCxnSpPr>
          <p:nvPr/>
        </p:nvCxnSpPr>
        <p:spPr>
          <a:xfrm>
            <a:off x="3925725" y="24099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294" name="Google Shape;294;p27"/>
          <p:cNvCxnSpPr>
            <a:stCxn id="284" idx="3"/>
            <a:endCxn id="289" idx="2"/>
          </p:cNvCxnSpPr>
          <p:nvPr/>
        </p:nvCxnSpPr>
        <p:spPr>
          <a:xfrm flipH="1" rot="10800000">
            <a:off x="5213899" y="30518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295" name="Google Shape;295;p27"/>
          <p:cNvCxnSpPr>
            <a:stCxn id="289" idx="3"/>
            <a:endCxn id="288" idx="0"/>
          </p:cNvCxnSpPr>
          <p:nvPr/>
        </p:nvCxnSpPr>
        <p:spPr>
          <a:xfrm>
            <a:off x="6426398" y="24099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296" name="Google Shape;296;p27"/>
          <p:cNvPicPr preferRelativeResize="0"/>
          <p:nvPr/>
        </p:nvPicPr>
        <p:blipFill>
          <a:blip r:embed="rId9">
            <a:alphaModFix/>
          </a:blip>
          <a:stretch>
            <a:fillRect/>
          </a:stretch>
        </p:blipFill>
        <p:spPr>
          <a:xfrm>
            <a:off x="221300" y="1768025"/>
            <a:ext cx="1283800" cy="1283800"/>
          </a:xfrm>
          <a:prstGeom prst="rect">
            <a:avLst/>
          </a:prstGeom>
          <a:noFill/>
          <a:ln>
            <a:noFill/>
          </a:ln>
        </p:spPr>
      </p:pic>
      <p:sp>
        <p:nvSpPr>
          <p:cNvPr id="297" name="Google Shape;297;p27"/>
          <p:cNvSpPr txBox="1"/>
          <p:nvPr/>
        </p:nvSpPr>
        <p:spPr>
          <a:xfrm>
            <a:off x="221350" y="11215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Motivations of the Policy</a:t>
            </a:r>
            <a:endParaRPr b="1" sz="1500">
              <a:latin typeface="Lato"/>
              <a:ea typeface="Lato"/>
              <a:cs typeface="Lato"/>
              <a:sym typeface="Lato"/>
            </a:endParaRPr>
          </a:p>
        </p:txBody>
      </p:sp>
      <p:sp>
        <p:nvSpPr>
          <p:cNvPr id="298" name="Google Shape;298;p27"/>
          <p:cNvSpPr txBox="1"/>
          <p:nvPr/>
        </p:nvSpPr>
        <p:spPr>
          <a:xfrm>
            <a:off x="1266000" y="45004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Personal</a:t>
            </a:r>
            <a:br>
              <a:rPr b="1" lang="en" sz="1500">
                <a:latin typeface="Lato"/>
                <a:ea typeface="Lato"/>
                <a:cs typeface="Lato"/>
                <a:sym typeface="Lato"/>
              </a:rPr>
            </a:br>
            <a:r>
              <a:rPr b="1" lang="en" sz="1500">
                <a:latin typeface="Lato"/>
                <a:ea typeface="Lato"/>
                <a:cs typeface="Lato"/>
                <a:sym typeface="Lato"/>
              </a:rPr>
              <a:t>Considerations</a:t>
            </a:r>
            <a:endParaRPr b="1" sz="1500">
              <a:latin typeface="Lato"/>
              <a:ea typeface="Lato"/>
              <a:cs typeface="Lato"/>
              <a:sym typeface="Lato"/>
            </a:endParaRPr>
          </a:p>
        </p:txBody>
      </p:sp>
      <p:sp>
        <p:nvSpPr>
          <p:cNvPr id="299" name="Google Shape;299;p27"/>
          <p:cNvSpPr txBox="1"/>
          <p:nvPr/>
        </p:nvSpPr>
        <p:spPr>
          <a:xfrm>
            <a:off x="2454775" y="11876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Data Storage</a:t>
            </a:r>
            <a:endParaRPr b="1" sz="1500">
              <a:latin typeface="Lato"/>
              <a:ea typeface="Lato"/>
              <a:cs typeface="Lato"/>
              <a:sym typeface="Lato"/>
            </a:endParaRPr>
          </a:p>
          <a:p>
            <a:pPr indent="0" lvl="0" marL="0" rtl="0" algn="ctr">
              <a:lnSpc>
                <a:spcPct val="100000"/>
              </a:lnSpc>
              <a:spcBef>
                <a:spcPts val="0"/>
              </a:spcBef>
              <a:spcAft>
                <a:spcPts val="0"/>
              </a:spcAft>
              <a:buNone/>
            </a:pPr>
            <a:r>
              <a:rPr b="1" lang="en" sz="1500">
                <a:latin typeface="Lato"/>
                <a:ea typeface="Lato"/>
                <a:cs typeface="Lato"/>
                <a:sym typeface="Lato"/>
              </a:rPr>
              <a:t>Options</a:t>
            </a:r>
            <a:endParaRPr b="1" sz="1500">
              <a:latin typeface="Lato"/>
              <a:ea typeface="Lato"/>
              <a:cs typeface="Lato"/>
              <a:sym typeface="Lato"/>
            </a:endParaRPr>
          </a:p>
        </p:txBody>
      </p:sp>
      <p:sp>
        <p:nvSpPr>
          <p:cNvPr id="300" name="Google Shape;300;p27"/>
          <p:cNvSpPr txBox="1"/>
          <p:nvPr/>
        </p:nvSpPr>
        <p:spPr>
          <a:xfrm>
            <a:off x="3810550" y="45004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Budgeting</a:t>
            </a:r>
            <a:endParaRPr b="1" sz="1500">
              <a:latin typeface="Lato"/>
              <a:ea typeface="Lato"/>
              <a:cs typeface="Lato"/>
              <a:sym typeface="Lato"/>
            </a:endParaRPr>
          </a:p>
        </p:txBody>
      </p:sp>
      <p:sp>
        <p:nvSpPr>
          <p:cNvPr id="301" name="Google Shape;301;p27"/>
          <p:cNvSpPr txBox="1"/>
          <p:nvPr/>
        </p:nvSpPr>
        <p:spPr>
          <a:xfrm>
            <a:off x="4991150" y="11876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Creating a DMS Plan</a:t>
            </a:r>
            <a:endParaRPr b="1" sz="1500">
              <a:latin typeface="Lato"/>
              <a:ea typeface="Lato"/>
              <a:cs typeface="Lato"/>
              <a:sym typeface="Lato"/>
            </a:endParaRPr>
          </a:p>
        </p:txBody>
      </p:sp>
      <p:sp>
        <p:nvSpPr>
          <p:cNvPr id="302" name="Google Shape;302;p27"/>
          <p:cNvSpPr txBox="1"/>
          <p:nvPr/>
        </p:nvSpPr>
        <p:spPr>
          <a:xfrm>
            <a:off x="7567600" y="40173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Submission Tips</a:t>
            </a:r>
            <a:endParaRPr b="1" sz="1500">
              <a:latin typeface="Lato"/>
              <a:ea typeface="Lato"/>
              <a:cs typeface="Lato"/>
              <a:sym typeface="Lato"/>
            </a:endParaRPr>
          </a:p>
        </p:txBody>
      </p:sp>
      <p:sp>
        <p:nvSpPr>
          <p:cNvPr id="303" name="Google Shape;303;p27"/>
          <p:cNvSpPr txBox="1"/>
          <p:nvPr/>
        </p:nvSpPr>
        <p:spPr>
          <a:xfrm>
            <a:off x="7264700" y="11876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latin typeface="Lato"/>
                <a:ea typeface="Lato"/>
                <a:cs typeface="Lato"/>
                <a:sym typeface="Lato"/>
              </a:rPr>
              <a:t>Post Submission Tips</a:t>
            </a:r>
            <a:endParaRPr b="1" sz="1500">
              <a:latin typeface="Lato"/>
              <a:ea typeface="Lato"/>
              <a:cs typeface="Lato"/>
              <a:sym typeface="Lato"/>
            </a:endParaRPr>
          </a:p>
        </p:txBody>
      </p:sp>
      <p:sp>
        <p:nvSpPr>
          <p:cNvPr id="304" name="Google Shape;304;p27"/>
          <p:cNvSpPr txBox="1"/>
          <p:nvPr/>
        </p:nvSpPr>
        <p:spPr>
          <a:xfrm rot="-678">
            <a:off x="711475" y="169455"/>
            <a:ext cx="7606200" cy="815700"/>
          </a:xfrm>
          <a:prstGeom prst="rect">
            <a:avLst/>
          </a:prstGeom>
          <a:solidFill>
            <a:srgbClr val="F3F3F3"/>
          </a:solidFill>
          <a:ln cap="flat" cmpd="sng" w="2857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dk1"/>
                </a:solidFill>
                <a:latin typeface="Indie Flower"/>
                <a:ea typeface="Indie Flower"/>
                <a:cs typeface="Indie Flower"/>
                <a:sym typeface="Indie Flower"/>
              </a:rPr>
              <a:t>NIH Data Management &amp; Sharing</a:t>
            </a:r>
            <a:endParaRPr sz="4100">
              <a:solidFill>
                <a:schemeClr val="dk1"/>
              </a:solidFill>
              <a:latin typeface="Indie Flower"/>
              <a:ea typeface="Indie Flower"/>
              <a:cs typeface="Indie Flower"/>
              <a:sym typeface="Indie Flower"/>
            </a:endParaRPr>
          </a:p>
        </p:txBody>
      </p:sp>
      <p:cxnSp>
        <p:nvCxnSpPr>
          <p:cNvPr id="305" name="Google Shape;305;p27"/>
          <p:cNvCxnSpPr/>
          <p:nvPr/>
        </p:nvCxnSpPr>
        <p:spPr>
          <a:xfrm rot="10800000">
            <a:off x="7567498" y="24098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8"/>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311" name="Google Shape;311;p28"/>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312" name="Google Shape;312;p28"/>
          <p:cNvPicPr preferRelativeResize="0"/>
          <p:nvPr/>
        </p:nvPicPr>
        <p:blipFill rotWithShape="1">
          <a:blip r:embed="rId5">
            <a:alphaModFix/>
          </a:blip>
          <a:srcRect b="0" l="0" r="0" t="0"/>
          <a:stretch/>
        </p:blipFill>
        <p:spPr>
          <a:xfrm>
            <a:off x="2641936" y="1158425"/>
            <a:ext cx="1283789" cy="1283809"/>
          </a:xfrm>
          <a:prstGeom prst="rect">
            <a:avLst/>
          </a:prstGeom>
          <a:noFill/>
          <a:ln>
            <a:noFill/>
          </a:ln>
        </p:spPr>
      </p:pic>
      <p:pic>
        <p:nvPicPr>
          <p:cNvPr id="313" name="Google Shape;313;p28"/>
          <p:cNvPicPr preferRelativeResize="0"/>
          <p:nvPr/>
        </p:nvPicPr>
        <p:blipFill rotWithShape="1">
          <a:blip r:embed="rId6">
            <a:alphaModFix/>
          </a:blip>
          <a:srcRect b="0" l="0" r="0" t="0"/>
          <a:stretch/>
        </p:blipFill>
        <p:spPr>
          <a:xfrm>
            <a:off x="7567608" y="1158425"/>
            <a:ext cx="1283789" cy="1283809"/>
          </a:xfrm>
          <a:prstGeom prst="rect">
            <a:avLst/>
          </a:prstGeom>
          <a:noFill/>
          <a:ln>
            <a:noFill/>
          </a:ln>
        </p:spPr>
      </p:pic>
      <p:pic>
        <p:nvPicPr>
          <p:cNvPr id="314" name="Google Shape;314;p28"/>
          <p:cNvPicPr preferRelativeResize="0"/>
          <p:nvPr/>
        </p:nvPicPr>
        <p:blipFill rotWithShape="1">
          <a:blip r:embed="rId7">
            <a:alphaModFix/>
          </a:blip>
          <a:srcRect b="0" l="0" r="0" t="0"/>
          <a:stretch/>
        </p:blipFill>
        <p:spPr>
          <a:xfrm>
            <a:off x="6355109" y="2607085"/>
            <a:ext cx="1283789" cy="1283809"/>
          </a:xfrm>
          <a:prstGeom prst="rect">
            <a:avLst/>
          </a:prstGeom>
          <a:noFill/>
          <a:ln>
            <a:noFill/>
          </a:ln>
        </p:spPr>
      </p:pic>
      <p:pic>
        <p:nvPicPr>
          <p:cNvPr id="315" name="Google Shape;315;p28"/>
          <p:cNvPicPr preferRelativeResize="0"/>
          <p:nvPr/>
        </p:nvPicPr>
        <p:blipFill rotWithShape="1">
          <a:blip r:embed="rId8">
            <a:alphaModFix/>
          </a:blip>
          <a:srcRect b="0" l="0" r="0" t="0"/>
          <a:stretch/>
        </p:blipFill>
        <p:spPr>
          <a:xfrm>
            <a:off x="5142609" y="1158425"/>
            <a:ext cx="1283789" cy="1283809"/>
          </a:xfrm>
          <a:prstGeom prst="rect">
            <a:avLst/>
          </a:prstGeom>
          <a:noFill/>
          <a:ln>
            <a:noFill/>
          </a:ln>
        </p:spPr>
      </p:pic>
      <p:cxnSp>
        <p:nvCxnSpPr>
          <p:cNvPr id="316" name="Google Shape;316;p28"/>
          <p:cNvCxnSpPr>
            <a:stCxn id="317" idx="3"/>
            <a:endCxn id="311"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318" name="Google Shape;318;p28"/>
          <p:cNvCxnSpPr>
            <a:stCxn id="311" idx="3"/>
            <a:endCxn id="312"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319" name="Google Shape;319;p28"/>
          <p:cNvCxnSpPr>
            <a:stCxn id="312" idx="3"/>
            <a:endCxn id="310"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320" name="Google Shape;320;p28"/>
          <p:cNvCxnSpPr>
            <a:stCxn id="310" idx="3"/>
            <a:endCxn id="315"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321" name="Google Shape;321;p28"/>
          <p:cNvCxnSpPr>
            <a:stCxn id="315" idx="3"/>
            <a:endCxn id="314"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322" name="Google Shape;322;p28"/>
          <p:cNvPicPr preferRelativeResize="0"/>
          <p:nvPr/>
        </p:nvPicPr>
        <p:blipFill rotWithShape="1">
          <a:blip r:embed="rId9">
            <a:alphaModFix/>
          </a:blip>
          <a:srcRect b="0" l="0" r="0" t="0"/>
          <a:stretch/>
        </p:blipFill>
        <p:spPr>
          <a:xfrm>
            <a:off x="221300" y="1158425"/>
            <a:ext cx="1283800" cy="1283800"/>
          </a:xfrm>
          <a:prstGeom prst="rect">
            <a:avLst/>
          </a:prstGeom>
          <a:noFill/>
          <a:ln>
            <a:noFill/>
          </a:ln>
        </p:spPr>
      </p:pic>
      <p:sp>
        <p:nvSpPr>
          <p:cNvPr id="323" name="Google Shape;323;p28"/>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Motivations of the Policy</a:t>
            </a:r>
            <a:endParaRPr b="1" sz="1500">
              <a:solidFill>
                <a:schemeClr val="dk1"/>
              </a:solidFill>
              <a:latin typeface="Lato"/>
              <a:ea typeface="Lato"/>
              <a:cs typeface="Lato"/>
              <a:sym typeface="Lato"/>
            </a:endParaRPr>
          </a:p>
        </p:txBody>
      </p:sp>
      <p:sp>
        <p:nvSpPr>
          <p:cNvPr id="324" name="Google Shape;324;p28"/>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325" name="Google Shape;325;p28"/>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sp>
        <p:nvSpPr>
          <p:cNvPr id="326" name="Google Shape;326;p28"/>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327" name="Google Shape;327;p28"/>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328" name="Google Shape;328;p28"/>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329" name="Google Shape;329;p28"/>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cxnSp>
        <p:nvCxnSpPr>
          <p:cNvPr id="330" name="Google Shape;330;p28"/>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29"/>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336" name="Google Shape;336;p29"/>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337" name="Google Shape;337;p29"/>
          <p:cNvPicPr preferRelativeResize="0"/>
          <p:nvPr/>
        </p:nvPicPr>
        <p:blipFill rotWithShape="1">
          <a:blip r:embed="rId5">
            <a:alphaModFix/>
          </a:blip>
          <a:srcRect b="0" l="0" r="0" t="0"/>
          <a:stretch/>
        </p:blipFill>
        <p:spPr>
          <a:xfrm>
            <a:off x="2641936" y="1158425"/>
            <a:ext cx="1283789" cy="1283809"/>
          </a:xfrm>
          <a:prstGeom prst="rect">
            <a:avLst/>
          </a:prstGeom>
          <a:noFill/>
          <a:ln>
            <a:noFill/>
          </a:ln>
        </p:spPr>
      </p:pic>
      <p:pic>
        <p:nvPicPr>
          <p:cNvPr id="338" name="Google Shape;338;p29"/>
          <p:cNvPicPr preferRelativeResize="0"/>
          <p:nvPr/>
        </p:nvPicPr>
        <p:blipFill rotWithShape="1">
          <a:blip r:embed="rId6">
            <a:alphaModFix/>
          </a:blip>
          <a:srcRect b="0" l="0" r="0" t="0"/>
          <a:stretch/>
        </p:blipFill>
        <p:spPr>
          <a:xfrm>
            <a:off x="7567608" y="1158425"/>
            <a:ext cx="1283789" cy="1283809"/>
          </a:xfrm>
          <a:prstGeom prst="rect">
            <a:avLst/>
          </a:prstGeom>
          <a:noFill/>
          <a:ln>
            <a:noFill/>
          </a:ln>
        </p:spPr>
      </p:pic>
      <p:pic>
        <p:nvPicPr>
          <p:cNvPr id="339" name="Google Shape;339;p29"/>
          <p:cNvPicPr preferRelativeResize="0"/>
          <p:nvPr/>
        </p:nvPicPr>
        <p:blipFill rotWithShape="1">
          <a:blip r:embed="rId7">
            <a:alphaModFix/>
          </a:blip>
          <a:srcRect b="0" l="0" r="0" t="0"/>
          <a:stretch/>
        </p:blipFill>
        <p:spPr>
          <a:xfrm>
            <a:off x="6355109" y="2607085"/>
            <a:ext cx="1283789" cy="1283809"/>
          </a:xfrm>
          <a:prstGeom prst="rect">
            <a:avLst/>
          </a:prstGeom>
          <a:noFill/>
          <a:ln>
            <a:noFill/>
          </a:ln>
        </p:spPr>
      </p:pic>
      <p:pic>
        <p:nvPicPr>
          <p:cNvPr id="340" name="Google Shape;340;p29"/>
          <p:cNvPicPr preferRelativeResize="0"/>
          <p:nvPr/>
        </p:nvPicPr>
        <p:blipFill rotWithShape="1">
          <a:blip r:embed="rId8">
            <a:alphaModFix/>
          </a:blip>
          <a:srcRect b="0" l="0" r="0" t="0"/>
          <a:stretch/>
        </p:blipFill>
        <p:spPr>
          <a:xfrm>
            <a:off x="5142609" y="1158425"/>
            <a:ext cx="1283789" cy="1283809"/>
          </a:xfrm>
          <a:prstGeom prst="rect">
            <a:avLst/>
          </a:prstGeom>
          <a:noFill/>
          <a:ln>
            <a:noFill/>
          </a:ln>
        </p:spPr>
      </p:pic>
      <p:cxnSp>
        <p:nvCxnSpPr>
          <p:cNvPr id="341" name="Google Shape;341;p29"/>
          <p:cNvCxnSpPr>
            <a:stCxn id="342" idx="3"/>
            <a:endCxn id="336"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343" name="Google Shape;343;p29"/>
          <p:cNvCxnSpPr>
            <a:stCxn id="336" idx="3"/>
            <a:endCxn id="337"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344" name="Google Shape;344;p29"/>
          <p:cNvCxnSpPr>
            <a:stCxn id="337" idx="3"/>
            <a:endCxn id="335"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345" name="Google Shape;345;p29"/>
          <p:cNvCxnSpPr>
            <a:stCxn id="335" idx="3"/>
            <a:endCxn id="340"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346" name="Google Shape;346;p29"/>
          <p:cNvCxnSpPr>
            <a:stCxn id="340" idx="3"/>
            <a:endCxn id="339"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347" name="Google Shape;347;p29"/>
          <p:cNvPicPr preferRelativeResize="0"/>
          <p:nvPr/>
        </p:nvPicPr>
        <p:blipFill rotWithShape="1">
          <a:blip r:embed="rId9">
            <a:alphaModFix/>
          </a:blip>
          <a:srcRect b="0" l="0" r="0" t="0"/>
          <a:stretch/>
        </p:blipFill>
        <p:spPr>
          <a:xfrm>
            <a:off x="221300" y="1158425"/>
            <a:ext cx="1283800" cy="1283800"/>
          </a:xfrm>
          <a:prstGeom prst="rect">
            <a:avLst/>
          </a:prstGeom>
          <a:noFill/>
          <a:ln>
            <a:noFill/>
          </a:ln>
        </p:spPr>
      </p:pic>
      <p:sp>
        <p:nvSpPr>
          <p:cNvPr id="348" name="Google Shape;348;p29"/>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349" name="Google Shape;349;p29"/>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Personal</a:t>
            </a:r>
            <a:br>
              <a:rPr b="1" lang="en" sz="1500">
                <a:solidFill>
                  <a:schemeClr val="dk1"/>
                </a:solidFill>
                <a:latin typeface="Lato"/>
                <a:ea typeface="Lato"/>
                <a:cs typeface="Lato"/>
                <a:sym typeface="Lato"/>
              </a:rPr>
            </a:br>
            <a:r>
              <a:rPr b="1" lang="en" sz="1500">
                <a:solidFill>
                  <a:schemeClr val="dk1"/>
                </a:solidFill>
                <a:latin typeface="Lato"/>
                <a:ea typeface="Lato"/>
                <a:cs typeface="Lato"/>
                <a:sym typeface="Lato"/>
              </a:rPr>
              <a:t>Considerations</a:t>
            </a:r>
            <a:endParaRPr b="1" sz="1500">
              <a:solidFill>
                <a:schemeClr val="dk1"/>
              </a:solidFill>
              <a:latin typeface="Lato"/>
              <a:ea typeface="Lato"/>
              <a:cs typeface="Lato"/>
              <a:sym typeface="Lato"/>
            </a:endParaRPr>
          </a:p>
        </p:txBody>
      </p:sp>
      <p:sp>
        <p:nvSpPr>
          <p:cNvPr id="350" name="Google Shape;350;p29"/>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sp>
        <p:nvSpPr>
          <p:cNvPr id="351" name="Google Shape;351;p29"/>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352" name="Google Shape;352;p29"/>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353" name="Google Shape;353;p29"/>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354" name="Google Shape;354;p29"/>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cxnSp>
        <p:nvCxnSpPr>
          <p:cNvPr id="355" name="Google Shape;355;p29"/>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pic>
        <p:nvPicPr>
          <p:cNvPr id="360" name="Google Shape;360;p30"/>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361" name="Google Shape;361;p30"/>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362" name="Google Shape;362;p30"/>
          <p:cNvPicPr preferRelativeResize="0"/>
          <p:nvPr/>
        </p:nvPicPr>
        <p:blipFill rotWithShape="1">
          <a:blip r:embed="rId5">
            <a:alphaModFix/>
          </a:blip>
          <a:srcRect b="0" l="0" r="0" t="0"/>
          <a:stretch/>
        </p:blipFill>
        <p:spPr>
          <a:xfrm>
            <a:off x="7567608" y="1158425"/>
            <a:ext cx="1283789" cy="1283809"/>
          </a:xfrm>
          <a:prstGeom prst="rect">
            <a:avLst/>
          </a:prstGeom>
          <a:noFill/>
          <a:ln>
            <a:noFill/>
          </a:ln>
        </p:spPr>
      </p:pic>
      <p:pic>
        <p:nvPicPr>
          <p:cNvPr id="363" name="Google Shape;363;p30"/>
          <p:cNvPicPr preferRelativeResize="0"/>
          <p:nvPr/>
        </p:nvPicPr>
        <p:blipFill rotWithShape="1">
          <a:blip r:embed="rId6">
            <a:alphaModFix/>
          </a:blip>
          <a:srcRect b="0" l="0" r="0" t="0"/>
          <a:stretch/>
        </p:blipFill>
        <p:spPr>
          <a:xfrm>
            <a:off x="6355109" y="2607085"/>
            <a:ext cx="1283789" cy="1283809"/>
          </a:xfrm>
          <a:prstGeom prst="rect">
            <a:avLst/>
          </a:prstGeom>
          <a:noFill/>
          <a:ln>
            <a:noFill/>
          </a:ln>
        </p:spPr>
      </p:pic>
      <p:pic>
        <p:nvPicPr>
          <p:cNvPr id="364" name="Google Shape;364;p30"/>
          <p:cNvPicPr preferRelativeResize="0"/>
          <p:nvPr/>
        </p:nvPicPr>
        <p:blipFill rotWithShape="1">
          <a:blip r:embed="rId7">
            <a:alphaModFix/>
          </a:blip>
          <a:srcRect b="0" l="0" r="0" t="0"/>
          <a:stretch/>
        </p:blipFill>
        <p:spPr>
          <a:xfrm>
            <a:off x="5142609" y="1158425"/>
            <a:ext cx="1283789" cy="1283809"/>
          </a:xfrm>
          <a:prstGeom prst="rect">
            <a:avLst/>
          </a:prstGeom>
          <a:noFill/>
          <a:ln>
            <a:noFill/>
          </a:ln>
        </p:spPr>
      </p:pic>
      <p:cxnSp>
        <p:nvCxnSpPr>
          <p:cNvPr id="365" name="Google Shape;365;p30"/>
          <p:cNvCxnSpPr>
            <a:stCxn id="366" idx="3"/>
            <a:endCxn id="361"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367" name="Google Shape;367;p30"/>
          <p:cNvCxnSpPr>
            <a:stCxn id="361" idx="3"/>
            <a:endCxn id="368"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369" name="Google Shape;369;p30"/>
          <p:cNvCxnSpPr>
            <a:stCxn id="370" idx="3"/>
            <a:endCxn id="360"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371" name="Google Shape;371;p30"/>
          <p:cNvCxnSpPr>
            <a:stCxn id="360" idx="3"/>
            <a:endCxn id="364"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372" name="Google Shape;372;p30"/>
          <p:cNvCxnSpPr>
            <a:stCxn id="364" idx="3"/>
            <a:endCxn id="363"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373" name="Google Shape;373;p30"/>
          <p:cNvPicPr preferRelativeResize="0"/>
          <p:nvPr/>
        </p:nvPicPr>
        <p:blipFill rotWithShape="1">
          <a:blip r:embed="rId8">
            <a:alphaModFix/>
          </a:blip>
          <a:srcRect b="0" l="0" r="0" t="0"/>
          <a:stretch/>
        </p:blipFill>
        <p:spPr>
          <a:xfrm>
            <a:off x="221300" y="1158425"/>
            <a:ext cx="1283800" cy="1283800"/>
          </a:xfrm>
          <a:prstGeom prst="rect">
            <a:avLst/>
          </a:prstGeom>
          <a:noFill/>
          <a:ln>
            <a:noFill/>
          </a:ln>
        </p:spPr>
      </p:pic>
      <p:sp>
        <p:nvSpPr>
          <p:cNvPr id="374" name="Google Shape;374;p30"/>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375" name="Google Shape;375;p30"/>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376" name="Google Shape;376;p30"/>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377" name="Google Shape;377;p30"/>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378" name="Google Shape;378;p30"/>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379" name="Google Shape;379;p30"/>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Data Storage</a:t>
            </a:r>
            <a:endParaRPr b="1" sz="1500">
              <a:solidFill>
                <a:schemeClr val="dk1"/>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Options</a:t>
            </a:r>
            <a:endParaRPr b="1" sz="1500">
              <a:solidFill>
                <a:schemeClr val="dk1"/>
              </a:solidFill>
              <a:latin typeface="Lato"/>
              <a:ea typeface="Lato"/>
              <a:cs typeface="Lato"/>
              <a:sym typeface="Lato"/>
            </a:endParaRPr>
          </a:p>
        </p:txBody>
      </p:sp>
      <p:sp>
        <p:nvSpPr>
          <p:cNvPr id="380" name="Google Shape;380;p30"/>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pic>
        <p:nvPicPr>
          <p:cNvPr id="370" name="Google Shape;370;p30"/>
          <p:cNvPicPr preferRelativeResize="0"/>
          <p:nvPr/>
        </p:nvPicPr>
        <p:blipFill rotWithShape="1">
          <a:blip r:embed="rId9">
            <a:alphaModFix/>
          </a:blip>
          <a:srcRect b="0" l="0" r="0" t="0"/>
          <a:stretch/>
        </p:blipFill>
        <p:spPr>
          <a:xfrm>
            <a:off x="2641936" y="1158425"/>
            <a:ext cx="1283789" cy="1283809"/>
          </a:xfrm>
          <a:prstGeom prst="rect">
            <a:avLst/>
          </a:prstGeom>
          <a:noFill/>
          <a:ln>
            <a:noFill/>
          </a:ln>
        </p:spPr>
      </p:pic>
      <p:cxnSp>
        <p:nvCxnSpPr>
          <p:cNvPr id="381" name="Google Shape;381;p30"/>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pic>
        <p:nvPicPr>
          <p:cNvPr id="386" name="Google Shape;386;p31"/>
          <p:cNvPicPr preferRelativeResize="0"/>
          <p:nvPr/>
        </p:nvPicPr>
        <p:blipFill rotWithShape="1">
          <a:blip r:embed="rId3">
            <a:alphaModFix/>
          </a:blip>
          <a:srcRect b="0" l="0" r="0" t="0"/>
          <a:stretch/>
        </p:blipFill>
        <p:spPr>
          <a:xfrm>
            <a:off x="1505112" y="2607085"/>
            <a:ext cx="1283789" cy="1283809"/>
          </a:xfrm>
          <a:prstGeom prst="rect">
            <a:avLst/>
          </a:prstGeom>
          <a:noFill/>
          <a:ln>
            <a:noFill/>
          </a:ln>
        </p:spPr>
      </p:pic>
      <p:pic>
        <p:nvPicPr>
          <p:cNvPr id="387" name="Google Shape;387;p31"/>
          <p:cNvPicPr preferRelativeResize="0"/>
          <p:nvPr/>
        </p:nvPicPr>
        <p:blipFill rotWithShape="1">
          <a:blip r:embed="rId4">
            <a:alphaModFix/>
          </a:blip>
          <a:srcRect b="0" l="0" r="0" t="0"/>
          <a:stretch/>
        </p:blipFill>
        <p:spPr>
          <a:xfrm>
            <a:off x="2641936" y="1158425"/>
            <a:ext cx="1283789" cy="1283809"/>
          </a:xfrm>
          <a:prstGeom prst="rect">
            <a:avLst/>
          </a:prstGeom>
          <a:noFill/>
          <a:ln>
            <a:noFill/>
          </a:ln>
        </p:spPr>
      </p:pic>
      <p:pic>
        <p:nvPicPr>
          <p:cNvPr id="388" name="Google Shape;388;p31"/>
          <p:cNvPicPr preferRelativeResize="0"/>
          <p:nvPr/>
        </p:nvPicPr>
        <p:blipFill rotWithShape="1">
          <a:blip r:embed="rId5">
            <a:alphaModFix/>
          </a:blip>
          <a:srcRect b="0" l="0" r="0" t="0"/>
          <a:stretch/>
        </p:blipFill>
        <p:spPr>
          <a:xfrm>
            <a:off x="7567608" y="1158425"/>
            <a:ext cx="1283789" cy="1283809"/>
          </a:xfrm>
          <a:prstGeom prst="rect">
            <a:avLst/>
          </a:prstGeom>
          <a:noFill/>
          <a:ln>
            <a:noFill/>
          </a:ln>
        </p:spPr>
      </p:pic>
      <p:pic>
        <p:nvPicPr>
          <p:cNvPr id="389" name="Google Shape;389;p31"/>
          <p:cNvPicPr preferRelativeResize="0"/>
          <p:nvPr/>
        </p:nvPicPr>
        <p:blipFill rotWithShape="1">
          <a:blip r:embed="rId6">
            <a:alphaModFix/>
          </a:blip>
          <a:srcRect b="0" l="0" r="0" t="0"/>
          <a:stretch/>
        </p:blipFill>
        <p:spPr>
          <a:xfrm>
            <a:off x="6355109" y="2607085"/>
            <a:ext cx="1283789" cy="1283809"/>
          </a:xfrm>
          <a:prstGeom prst="rect">
            <a:avLst/>
          </a:prstGeom>
          <a:noFill/>
          <a:ln>
            <a:noFill/>
          </a:ln>
        </p:spPr>
      </p:pic>
      <p:pic>
        <p:nvPicPr>
          <p:cNvPr id="390" name="Google Shape;390;p31"/>
          <p:cNvPicPr preferRelativeResize="0"/>
          <p:nvPr/>
        </p:nvPicPr>
        <p:blipFill rotWithShape="1">
          <a:blip r:embed="rId7">
            <a:alphaModFix/>
          </a:blip>
          <a:srcRect b="0" l="0" r="0" t="0"/>
          <a:stretch/>
        </p:blipFill>
        <p:spPr>
          <a:xfrm>
            <a:off x="5142609" y="1158425"/>
            <a:ext cx="1283789" cy="1283809"/>
          </a:xfrm>
          <a:prstGeom prst="rect">
            <a:avLst/>
          </a:prstGeom>
          <a:noFill/>
          <a:ln>
            <a:noFill/>
          </a:ln>
        </p:spPr>
      </p:pic>
      <p:cxnSp>
        <p:nvCxnSpPr>
          <p:cNvPr id="391" name="Google Shape;391;p31"/>
          <p:cNvCxnSpPr>
            <a:stCxn id="392" idx="3"/>
            <a:endCxn id="386"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393" name="Google Shape;393;p31"/>
          <p:cNvCxnSpPr>
            <a:stCxn id="386" idx="3"/>
            <a:endCxn id="387"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394" name="Google Shape;394;p31"/>
          <p:cNvCxnSpPr>
            <a:stCxn id="387" idx="3"/>
            <a:endCxn id="395"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396" name="Google Shape;396;p31"/>
          <p:cNvCxnSpPr>
            <a:stCxn id="397" idx="3"/>
            <a:endCxn id="390"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398" name="Google Shape;398;p31"/>
          <p:cNvCxnSpPr>
            <a:stCxn id="390" idx="3"/>
            <a:endCxn id="389"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399" name="Google Shape;399;p31"/>
          <p:cNvPicPr preferRelativeResize="0"/>
          <p:nvPr/>
        </p:nvPicPr>
        <p:blipFill rotWithShape="1">
          <a:blip r:embed="rId8">
            <a:alphaModFix/>
          </a:blip>
          <a:srcRect b="0" l="0" r="0" t="0"/>
          <a:stretch/>
        </p:blipFill>
        <p:spPr>
          <a:xfrm>
            <a:off x="221300" y="1158425"/>
            <a:ext cx="1283800" cy="1283800"/>
          </a:xfrm>
          <a:prstGeom prst="rect">
            <a:avLst/>
          </a:prstGeom>
          <a:noFill/>
          <a:ln>
            <a:noFill/>
          </a:ln>
        </p:spPr>
      </p:pic>
      <p:sp>
        <p:nvSpPr>
          <p:cNvPr id="400" name="Google Shape;400;p31"/>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401" name="Google Shape;401;p31"/>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402" name="Google Shape;402;p31"/>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403" name="Google Shape;403;p31"/>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404" name="Google Shape;404;p31"/>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405" name="Google Shape;405;p31"/>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sp>
        <p:nvSpPr>
          <p:cNvPr id="406" name="Google Shape;406;p31"/>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Budgeting</a:t>
            </a:r>
            <a:endParaRPr b="1" sz="1500">
              <a:solidFill>
                <a:schemeClr val="dk1"/>
              </a:solidFill>
              <a:latin typeface="Lato"/>
              <a:ea typeface="Lato"/>
              <a:cs typeface="Lato"/>
              <a:sym typeface="Lato"/>
            </a:endParaRPr>
          </a:p>
        </p:txBody>
      </p:sp>
      <p:pic>
        <p:nvPicPr>
          <p:cNvPr id="397" name="Google Shape;397;p31"/>
          <p:cNvPicPr preferRelativeResize="0"/>
          <p:nvPr/>
        </p:nvPicPr>
        <p:blipFill rotWithShape="1">
          <a:blip r:embed="rId9">
            <a:alphaModFix/>
          </a:blip>
          <a:srcRect b="0" l="0" r="0" t="0"/>
          <a:stretch/>
        </p:blipFill>
        <p:spPr>
          <a:xfrm>
            <a:off x="3930110" y="2607085"/>
            <a:ext cx="1283789" cy="1283809"/>
          </a:xfrm>
          <a:prstGeom prst="rect">
            <a:avLst/>
          </a:prstGeom>
          <a:noFill/>
          <a:ln>
            <a:noFill/>
          </a:ln>
        </p:spPr>
      </p:pic>
      <p:cxnSp>
        <p:nvCxnSpPr>
          <p:cNvPr id="407" name="Google Shape;407;p31"/>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id="412" name="Google Shape;412;p32"/>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413" name="Google Shape;413;p32"/>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414" name="Google Shape;414;p32"/>
          <p:cNvPicPr preferRelativeResize="0"/>
          <p:nvPr/>
        </p:nvPicPr>
        <p:blipFill rotWithShape="1">
          <a:blip r:embed="rId5">
            <a:alphaModFix/>
          </a:blip>
          <a:srcRect b="0" l="0" r="0" t="0"/>
          <a:stretch/>
        </p:blipFill>
        <p:spPr>
          <a:xfrm>
            <a:off x="2641936" y="1158425"/>
            <a:ext cx="1283789" cy="1283809"/>
          </a:xfrm>
          <a:prstGeom prst="rect">
            <a:avLst/>
          </a:prstGeom>
          <a:noFill/>
          <a:ln>
            <a:noFill/>
          </a:ln>
        </p:spPr>
      </p:pic>
      <p:pic>
        <p:nvPicPr>
          <p:cNvPr id="415" name="Google Shape;415;p32"/>
          <p:cNvPicPr preferRelativeResize="0"/>
          <p:nvPr/>
        </p:nvPicPr>
        <p:blipFill rotWithShape="1">
          <a:blip r:embed="rId6">
            <a:alphaModFix/>
          </a:blip>
          <a:srcRect b="0" l="0" r="0" t="0"/>
          <a:stretch/>
        </p:blipFill>
        <p:spPr>
          <a:xfrm>
            <a:off x="7567608" y="1158425"/>
            <a:ext cx="1283789" cy="1283809"/>
          </a:xfrm>
          <a:prstGeom prst="rect">
            <a:avLst/>
          </a:prstGeom>
          <a:noFill/>
          <a:ln>
            <a:noFill/>
          </a:ln>
        </p:spPr>
      </p:pic>
      <p:pic>
        <p:nvPicPr>
          <p:cNvPr id="416" name="Google Shape;416;p32"/>
          <p:cNvPicPr preferRelativeResize="0"/>
          <p:nvPr/>
        </p:nvPicPr>
        <p:blipFill rotWithShape="1">
          <a:blip r:embed="rId7">
            <a:alphaModFix/>
          </a:blip>
          <a:srcRect b="0" l="0" r="0" t="0"/>
          <a:stretch/>
        </p:blipFill>
        <p:spPr>
          <a:xfrm>
            <a:off x="6355109" y="2607085"/>
            <a:ext cx="1283789" cy="1283809"/>
          </a:xfrm>
          <a:prstGeom prst="rect">
            <a:avLst/>
          </a:prstGeom>
          <a:noFill/>
          <a:ln>
            <a:noFill/>
          </a:ln>
        </p:spPr>
      </p:pic>
      <p:cxnSp>
        <p:nvCxnSpPr>
          <p:cNvPr id="417" name="Google Shape;417;p32"/>
          <p:cNvCxnSpPr>
            <a:stCxn id="418" idx="3"/>
            <a:endCxn id="413"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419" name="Google Shape;419;p32"/>
          <p:cNvCxnSpPr>
            <a:stCxn id="413" idx="3"/>
            <a:endCxn id="414"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420" name="Google Shape;420;p32"/>
          <p:cNvCxnSpPr>
            <a:stCxn id="414" idx="3"/>
            <a:endCxn id="412"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421" name="Google Shape;421;p32"/>
          <p:cNvCxnSpPr>
            <a:stCxn id="412" idx="3"/>
            <a:endCxn id="422"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423" name="Google Shape;423;p32"/>
          <p:cNvCxnSpPr>
            <a:stCxn id="424" idx="3"/>
            <a:endCxn id="416"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pic>
        <p:nvPicPr>
          <p:cNvPr id="425" name="Google Shape;425;p32"/>
          <p:cNvPicPr preferRelativeResize="0"/>
          <p:nvPr/>
        </p:nvPicPr>
        <p:blipFill rotWithShape="1">
          <a:blip r:embed="rId8">
            <a:alphaModFix/>
          </a:blip>
          <a:srcRect b="0" l="0" r="0" t="0"/>
          <a:stretch/>
        </p:blipFill>
        <p:spPr>
          <a:xfrm>
            <a:off x="221300" y="1158425"/>
            <a:ext cx="1283800" cy="1283800"/>
          </a:xfrm>
          <a:prstGeom prst="rect">
            <a:avLst/>
          </a:prstGeom>
          <a:noFill/>
          <a:ln>
            <a:noFill/>
          </a:ln>
        </p:spPr>
      </p:pic>
      <p:sp>
        <p:nvSpPr>
          <p:cNvPr id="426" name="Google Shape;426;p32"/>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427" name="Google Shape;427;p32"/>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428" name="Google Shape;428;p32"/>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Creating a DMS Plan</a:t>
            </a:r>
            <a:endParaRPr b="1" sz="1500">
              <a:solidFill>
                <a:schemeClr val="dk1"/>
              </a:solidFill>
              <a:latin typeface="Lato"/>
              <a:ea typeface="Lato"/>
              <a:cs typeface="Lato"/>
              <a:sym typeface="Lato"/>
            </a:endParaRPr>
          </a:p>
        </p:txBody>
      </p:sp>
      <p:sp>
        <p:nvSpPr>
          <p:cNvPr id="429" name="Google Shape;429;p32"/>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430" name="Google Shape;430;p32"/>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431" name="Google Shape;431;p32"/>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sp>
        <p:nvSpPr>
          <p:cNvPr id="432" name="Google Shape;432;p32"/>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pic>
        <p:nvPicPr>
          <p:cNvPr id="424" name="Google Shape;424;p32"/>
          <p:cNvPicPr preferRelativeResize="0"/>
          <p:nvPr/>
        </p:nvPicPr>
        <p:blipFill rotWithShape="1">
          <a:blip r:embed="rId9">
            <a:alphaModFix/>
          </a:blip>
          <a:srcRect b="0" l="0" r="0" t="0"/>
          <a:stretch/>
        </p:blipFill>
        <p:spPr>
          <a:xfrm>
            <a:off x="5142609" y="1158425"/>
            <a:ext cx="1283789" cy="1283809"/>
          </a:xfrm>
          <a:prstGeom prst="rect">
            <a:avLst/>
          </a:prstGeom>
          <a:noFill/>
          <a:ln>
            <a:noFill/>
          </a:ln>
        </p:spPr>
      </p:pic>
      <p:cxnSp>
        <p:nvCxnSpPr>
          <p:cNvPr id="433" name="Google Shape;433;p32"/>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33"/>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439" name="Google Shape;439;p33"/>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440" name="Google Shape;440;p33"/>
          <p:cNvPicPr preferRelativeResize="0"/>
          <p:nvPr/>
        </p:nvPicPr>
        <p:blipFill rotWithShape="1">
          <a:blip r:embed="rId5">
            <a:alphaModFix/>
          </a:blip>
          <a:srcRect b="0" l="0" r="0" t="0"/>
          <a:stretch/>
        </p:blipFill>
        <p:spPr>
          <a:xfrm>
            <a:off x="2641936" y="1158425"/>
            <a:ext cx="1283789" cy="1283809"/>
          </a:xfrm>
          <a:prstGeom prst="rect">
            <a:avLst/>
          </a:prstGeom>
          <a:noFill/>
          <a:ln>
            <a:noFill/>
          </a:ln>
        </p:spPr>
      </p:pic>
      <p:pic>
        <p:nvPicPr>
          <p:cNvPr id="441" name="Google Shape;441;p33"/>
          <p:cNvPicPr preferRelativeResize="0"/>
          <p:nvPr/>
        </p:nvPicPr>
        <p:blipFill rotWithShape="1">
          <a:blip r:embed="rId6">
            <a:alphaModFix/>
          </a:blip>
          <a:srcRect b="0" l="0" r="0" t="0"/>
          <a:stretch/>
        </p:blipFill>
        <p:spPr>
          <a:xfrm>
            <a:off x="7567608" y="1158425"/>
            <a:ext cx="1283789" cy="1283809"/>
          </a:xfrm>
          <a:prstGeom prst="rect">
            <a:avLst/>
          </a:prstGeom>
          <a:noFill/>
          <a:ln>
            <a:noFill/>
          </a:ln>
        </p:spPr>
      </p:pic>
      <p:pic>
        <p:nvPicPr>
          <p:cNvPr id="442" name="Google Shape;442;p33"/>
          <p:cNvPicPr preferRelativeResize="0"/>
          <p:nvPr/>
        </p:nvPicPr>
        <p:blipFill rotWithShape="1">
          <a:blip r:embed="rId7">
            <a:alphaModFix/>
          </a:blip>
          <a:srcRect b="0" l="0" r="0" t="0"/>
          <a:stretch/>
        </p:blipFill>
        <p:spPr>
          <a:xfrm>
            <a:off x="5142609" y="1158425"/>
            <a:ext cx="1283789" cy="1283809"/>
          </a:xfrm>
          <a:prstGeom prst="rect">
            <a:avLst/>
          </a:prstGeom>
          <a:noFill/>
          <a:ln>
            <a:noFill/>
          </a:ln>
        </p:spPr>
      </p:pic>
      <p:cxnSp>
        <p:nvCxnSpPr>
          <p:cNvPr id="443" name="Google Shape;443;p33"/>
          <p:cNvCxnSpPr>
            <a:stCxn id="444" idx="3"/>
            <a:endCxn id="439"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445" name="Google Shape;445;p33"/>
          <p:cNvCxnSpPr>
            <a:stCxn id="439" idx="3"/>
            <a:endCxn id="440"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446" name="Google Shape;446;p33"/>
          <p:cNvCxnSpPr>
            <a:stCxn id="440" idx="3"/>
            <a:endCxn id="438"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447" name="Google Shape;447;p33"/>
          <p:cNvCxnSpPr>
            <a:stCxn id="438" idx="3"/>
            <a:endCxn id="442"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448" name="Google Shape;448;p33"/>
          <p:cNvCxnSpPr>
            <a:stCxn id="442" idx="3"/>
            <a:endCxn id="449"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450" name="Google Shape;450;p33"/>
          <p:cNvCxnSpPr>
            <a:stCxn id="451" idx="3"/>
            <a:endCxn id="441" idx="1"/>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pic>
        <p:nvPicPr>
          <p:cNvPr id="452" name="Google Shape;452;p33"/>
          <p:cNvPicPr preferRelativeResize="0"/>
          <p:nvPr/>
        </p:nvPicPr>
        <p:blipFill rotWithShape="1">
          <a:blip r:embed="rId8">
            <a:alphaModFix/>
          </a:blip>
          <a:srcRect b="0" l="0" r="0" t="0"/>
          <a:stretch/>
        </p:blipFill>
        <p:spPr>
          <a:xfrm>
            <a:off x="221300" y="1158425"/>
            <a:ext cx="1283800" cy="1283800"/>
          </a:xfrm>
          <a:prstGeom prst="rect">
            <a:avLst/>
          </a:prstGeom>
          <a:noFill/>
          <a:ln>
            <a:noFill/>
          </a:ln>
        </p:spPr>
      </p:pic>
      <p:sp>
        <p:nvSpPr>
          <p:cNvPr id="453" name="Google Shape;453;p33"/>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454" name="Google Shape;454;p33"/>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455" name="Google Shape;455;p33"/>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456" name="Google Shape;456;p33"/>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Submission Tips</a:t>
            </a:r>
            <a:endParaRPr b="1" sz="1500">
              <a:solidFill>
                <a:schemeClr val="dk1"/>
              </a:solidFill>
              <a:latin typeface="Lato"/>
              <a:ea typeface="Lato"/>
              <a:cs typeface="Lato"/>
              <a:sym typeface="Lato"/>
            </a:endParaRPr>
          </a:p>
        </p:txBody>
      </p:sp>
      <p:sp>
        <p:nvSpPr>
          <p:cNvPr id="457" name="Google Shape;457;p33"/>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999999"/>
                </a:solidFill>
                <a:latin typeface="Lato"/>
                <a:ea typeface="Lato"/>
                <a:cs typeface="Lato"/>
                <a:sym typeface="Lato"/>
              </a:rPr>
              <a:t>Post Submission Tips</a:t>
            </a:r>
            <a:endParaRPr b="1" sz="1500">
              <a:solidFill>
                <a:srgbClr val="999999"/>
              </a:solidFill>
              <a:latin typeface="Lato"/>
              <a:ea typeface="Lato"/>
              <a:cs typeface="Lato"/>
              <a:sym typeface="Lato"/>
            </a:endParaRPr>
          </a:p>
        </p:txBody>
      </p:sp>
      <p:sp>
        <p:nvSpPr>
          <p:cNvPr id="458" name="Google Shape;458;p33"/>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sp>
        <p:nvSpPr>
          <p:cNvPr id="459" name="Google Shape;459;p33"/>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pic>
        <p:nvPicPr>
          <p:cNvPr id="451" name="Google Shape;451;p33"/>
          <p:cNvPicPr preferRelativeResize="0"/>
          <p:nvPr/>
        </p:nvPicPr>
        <p:blipFill rotWithShape="1">
          <a:blip r:embed="rId9">
            <a:alphaModFix/>
          </a:blip>
          <a:srcRect b="0" l="0" r="0" t="0"/>
          <a:stretch/>
        </p:blipFill>
        <p:spPr>
          <a:xfrm>
            <a:off x="6355109" y="2607085"/>
            <a:ext cx="1283789" cy="128380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id="464" name="Google Shape;464;p34"/>
          <p:cNvPicPr preferRelativeResize="0"/>
          <p:nvPr/>
        </p:nvPicPr>
        <p:blipFill rotWithShape="1">
          <a:blip r:embed="rId3">
            <a:alphaModFix/>
          </a:blip>
          <a:srcRect b="0" l="0" r="0" t="0"/>
          <a:stretch/>
        </p:blipFill>
        <p:spPr>
          <a:xfrm>
            <a:off x="3930110" y="2607085"/>
            <a:ext cx="1283789" cy="1283809"/>
          </a:xfrm>
          <a:prstGeom prst="rect">
            <a:avLst/>
          </a:prstGeom>
          <a:noFill/>
          <a:ln>
            <a:noFill/>
          </a:ln>
        </p:spPr>
      </p:pic>
      <p:pic>
        <p:nvPicPr>
          <p:cNvPr id="465" name="Google Shape;465;p34"/>
          <p:cNvPicPr preferRelativeResize="0"/>
          <p:nvPr/>
        </p:nvPicPr>
        <p:blipFill rotWithShape="1">
          <a:blip r:embed="rId4">
            <a:alphaModFix/>
          </a:blip>
          <a:srcRect b="0" l="0" r="0" t="0"/>
          <a:stretch/>
        </p:blipFill>
        <p:spPr>
          <a:xfrm>
            <a:off x="1505112" y="2607085"/>
            <a:ext cx="1283789" cy="1283809"/>
          </a:xfrm>
          <a:prstGeom prst="rect">
            <a:avLst/>
          </a:prstGeom>
          <a:noFill/>
          <a:ln>
            <a:noFill/>
          </a:ln>
        </p:spPr>
      </p:pic>
      <p:pic>
        <p:nvPicPr>
          <p:cNvPr id="466" name="Google Shape;466;p34"/>
          <p:cNvPicPr preferRelativeResize="0"/>
          <p:nvPr/>
        </p:nvPicPr>
        <p:blipFill rotWithShape="1">
          <a:blip r:embed="rId5">
            <a:alphaModFix/>
          </a:blip>
          <a:srcRect b="0" l="0" r="0" t="0"/>
          <a:stretch/>
        </p:blipFill>
        <p:spPr>
          <a:xfrm>
            <a:off x="2641936" y="1158425"/>
            <a:ext cx="1283789" cy="1283809"/>
          </a:xfrm>
          <a:prstGeom prst="rect">
            <a:avLst/>
          </a:prstGeom>
          <a:noFill/>
          <a:ln>
            <a:noFill/>
          </a:ln>
        </p:spPr>
      </p:pic>
      <p:pic>
        <p:nvPicPr>
          <p:cNvPr id="467" name="Google Shape;467;p34"/>
          <p:cNvPicPr preferRelativeResize="0"/>
          <p:nvPr/>
        </p:nvPicPr>
        <p:blipFill rotWithShape="1">
          <a:blip r:embed="rId6">
            <a:alphaModFix/>
          </a:blip>
          <a:srcRect b="0" l="0" r="0" t="0"/>
          <a:stretch/>
        </p:blipFill>
        <p:spPr>
          <a:xfrm>
            <a:off x="6355109" y="2607085"/>
            <a:ext cx="1283789" cy="1283809"/>
          </a:xfrm>
          <a:prstGeom prst="rect">
            <a:avLst/>
          </a:prstGeom>
          <a:noFill/>
          <a:ln>
            <a:noFill/>
          </a:ln>
        </p:spPr>
      </p:pic>
      <p:pic>
        <p:nvPicPr>
          <p:cNvPr id="468" name="Google Shape;468;p34"/>
          <p:cNvPicPr preferRelativeResize="0"/>
          <p:nvPr/>
        </p:nvPicPr>
        <p:blipFill rotWithShape="1">
          <a:blip r:embed="rId7">
            <a:alphaModFix/>
          </a:blip>
          <a:srcRect b="0" l="0" r="0" t="0"/>
          <a:stretch/>
        </p:blipFill>
        <p:spPr>
          <a:xfrm>
            <a:off x="5142609" y="1158425"/>
            <a:ext cx="1283789" cy="1283809"/>
          </a:xfrm>
          <a:prstGeom prst="rect">
            <a:avLst/>
          </a:prstGeom>
          <a:noFill/>
          <a:ln>
            <a:noFill/>
          </a:ln>
        </p:spPr>
      </p:pic>
      <p:cxnSp>
        <p:nvCxnSpPr>
          <p:cNvPr id="469" name="Google Shape;469;p34"/>
          <p:cNvCxnSpPr>
            <a:stCxn id="470" idx="3"/>
            <a:endCxn id="465" idx="1"/>
          </p:cNvCxnSpPr>
          <p:nvPr/>
        </p:nvCxnSpPr>
        <p:spPr>
          <a:xfrm rot="5400000">
            <a:off x="816462" y="2488940"/>
            <a:ext cx="1448700" cy="71400"/>
          </a:xfrm>
          <a:prstGeom prst="curvedConnector4">
            <a:avLst>
              <a:gd fmla="val 27845" name="adj1"/>
              <a:gd fmla="val 433508" name="adj2"/>
            </a:avLst>
          </a:prstGeom>
          <a:noFill/>
          <a:ln cap="flat" cmpd="sng" w="9525">
            <a:solidFill>
              <a:srgbClr val="B7B7B7"/>
            </a:solidFill>
            <a:prstDash val="solid"/>
            <a:round/>
            <a:headEnd len="med" w="med" type="none"/>
            <a:tailEnd len="med" w="med" type="stealth"/>
          </a:ln>
        </p:spPr>
      </p:cxnSp>
      <p:cxnSp>
        <p:nvCxnSpPr>
          <p:cNvPr id="471" name="Google Shape;471;p34"/>
          <p:cNvCxnSpPr>
            <a:stCxn id="465" idx="3"/>
            <a:endCxn id="466" idx="2"/>
          </p:cNvCxnSpPr>
          <p:nvPr/>
        </p:nvCxnSpPr>
        <p:spPr>
          <a:xfrm flipH="1" rot="10800000">
            <a:off x="2788900" y="2442290"/>
            <a:ext cx="495000" cy="806700"/>
          </a:xfrm>
          <a:prstGeom prst="curvedConnector2">
            <a:avLst/>
          </a:prstGeom>
          <a:noFill/>
          <a:ln cap="flat" cmpd="sng" w="9525">
            <a:solidFill>
              <a:srgbClr val="B7B7B7"/>
            </a:solidFill>
            <a:prstDash val="solid"/>
            <a:round/>
            <a:headEnd len="med" w="med" type="none"/>
            <a:tailEnd len="med" w="med" type="stealth"/>
          </a:ln>
        </p:spPr>
      </p:cxnSp>
      <p:cxnSp>
        <p:nvCxnSpPr>
          <p:cNvPr id="472" name="Google Shape;472;p34"/>
          <p:cNvCxnSpPr>
            <a:stCxn id="466" idx="3"/>
            <a:endCxn id="464" idx="0"/>
          </p:cNvCxnSpPr>
          <p:nvPr/>
        </p:nvCxnSpPr>
        <p:spPr>
          <a:xfrm>
            <a:off x="3925725" y="1800330"/>
            <a:ext cx="646200" cy="806700"/>
          </a:xfrm>
          <a:prstGeom prst="curvedConnector2">
            <a:avLst/>
          </a:prstGeom>
          <a:noFill/>
          <a:ln cap="flat" cmpd="sng" w="9525">
            <a:solidFill>
              <a:srgbClr val="B7B7B7"/>
            </a:solidFill>
            <a:prstDash val="solid"/>
            <a:round/>
            <a:headEnd len="med" w="med" type="none"/>
            <a:tailEnd len="med" w="med" type="stealth"/>
          </a:ln>
        </p:spPr>
      </p:cxnSp>
      <p:cxnSp>
        <p:nvCxnSpPr>
          <p:cNvPr id="473" name="Google Shape;473;p34"/>
          <p:cNvCxnSpPr>
            <a:stCxn id="464" idx="3"/>
            <a:endCxn id="468" idx="2"/>
          </p:cNvCxnSpPr>
          <p:nvPr/>
        </p:nvCxnSpPr>
        <p:spPr>
          <a:xfrm flipH="1" rot="10800000">
            <a:off x="5213899" y="244229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474" name="Google Shape;474;p34"/>
          <p:cNvCxnSpPr>
            <a:stCxn id="468" idx="3"/>
            <a:endCxn id="467" idx="0"/>
          </p:cNvCxnSpPr>
          <p:nvPr/>
        </p:nvCxnSpPr>
        <p:spPr>
          <a:xfrm>
            <a:off x="6426398" y="1800330"/>
            <a:ext cx="570600" cy="806700"/>
          </a:xfrm>
          <a:prstGeom prst="curvedConnector2">
            <a:avLst/>
          </a:prstGeom>
          <a:noFill/>
          <a:ln cap="flat" cmpd="sng" w="9525">
            <a:solidFill>
              <a:srgbClr val="B7B7B7"/>
            </a:solidFill>
            <a:prstDash val="solid"/>
            <a:round/>
            <a:headEnd len="med" w="med" type="none"/>
            <a:tailEnd len="med" w="med" type="stealth"/>
          </a:ln>
        </p:spPr>
      </p:cxnSp>
      <p:cxnSp>
        <p:nvCxnSpPr>
          <p:cNvPr id="475" name="Google Shape;475;p34"/>
          <p:cNvCxnSpPr>
            <a:stCxn id="467" idx="3"/>
            <a:endCxn id="476" idx="1"/>
          </p:cNvCxnSpPr>
          <p:nvPr/>
        </p:nvCxnSpPr>
        <p:spPr>
          <a:xfrm rot="10800000">
            <a:off x="7567498" y="1800290"/>
            <a:ext cx="71400" cy="1448700"/>
          </a:xfrm>
          <a:prstGeom prst="curvedConnector5">
            <a:avLst>
              <a:gd fmla="val -333508" name="adj1"/>
              <a:gd fmla="val 49999" name="adj2"/>
              <a:gd fmla="val 433354" name="adj3"/>
            </a:avLst>
          </a:prstGeom>
          <a:noFill/>
          <a:ln cap="flat" cmpd="sng" w="9525">
            <a:solidFill>
              <a:srgbClr val="B7B7B7"/>
            </a:solidFill>
            <a:prstDash val="solid"/>
            <a:round/>
            <a:headEnd len="med" w="med" type="none"/>
            <a:tailEnd len="med" w="med" type="stealth"/>
          </a:ln>
        </p:spPr>
      </p:cxnSp>
      <p:pic>
        <p:nvPicPr>
          <p:cNvPr id="477" name="Google Shape;477;p34"/>
          <p:cNvPicPr preferRelativeResize="0"/>
          <p:nvPr/>
        </p:nvPicPr>
        <p:blipFill rotWithShape="1">
          <a:blip r:embed="rId8">
            <a:alphaModFix/>
          </a:blip>
          <a:srcRect b="0" l="0" r="0" t="0"/>
          <a:stretch/>
        </p:blipFill>
        <p:spPr>
          <a:xfrm>
            <a:off x="221300" y="1158425"/>
            <a:ext cx="1283800" cy="1283800"/>
          </a:xfrm>
          <a:prstGeom prst="rect">
            <a:avLst/>
          </a:prstGeom>
          <a:noFill/>
          <a:ln>
            <a:noFill/>
          </a:ln>
        </p:spPr>
      </p:pic>
      <p:sp>
        <p:nvSpPr>
          <p:cNvPr id="478" name="Google Shape;478;p34"/>
          <p:cNvSpPr txBox="1"/>
          <p:nvPr/>
        </p:nvSpPr>
        <p:spPr>
          <a:xfrm>
            <a:off x="221350" y="51192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Motivations of the Policy</a:t>
            </a:r>
            <a:endParaRPr b="1" sz="1500">
              <a:solidFill>
                <a:srgbClr val="B7B7B7"/>
              </a:solidFill>
              <a:latin typeface="Lato"/>
              <a:ea typeface="Lato"/>
              <a:cs typeface="Lato"/>
              <a:sym typeface="Lato"/>
            </a:endParaRPr>
          </a:p>
        </p:txBody>
      </p:sp>
      <p:sp>
        <p:nvSpPr>
          <p:cNvPr id="479" name="Google Shape;479;p34"/>
          <p:cNvSpPr txBox="1"/>
          <p:nvPr/>
        </p:nvSpPr>
        <p:spPr>
          <a:xfrm>
            <a:off x="1266000" y="38908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Personal</a:t>
            </a:r>
            <a:br>
              <a:rPr b="1" lang="en" sz="1500">
                <a:solidFill>
                  <a:srgbClr val="B7B7B7"/>
                </a:solidFill>
                <a:latin typeface="Lato"/>
                <a:ea typeface="Lato"/>
                <a:cs typeface="Lato"/>
                <a:sym typeface="Lato"/>
              </a:rPr>
            </a:br>
            <a:r>
              <a:rPr b="1" lang="en" sz="1500">
                <a:solidFill>
                  <a:srgbClr val="B7B7B7"/>
                </a:solidFill>
                <a:latin typeface="Lato"/>
                <a:ea typeface="Lato"/>
                <a:cs typeface="Lato"/>
                <a:sym typeface="Lato"/>
              </a:rPr>
              <a:t>Considerations</a:t>
            </a:r>
            <a:endParaRPr b="1" sz="1500">
              <a:solidFill>
                <a:srgbClr val="B7B7B7"/>
              </a:solidFill>
              <a:latin typeface="Lato"/>
              <a:ea typeface="Lato"/>
              <a:cs typeface="Lato"/>
              <a:sym typeface="Lato"/>
            </a:endParaRPr>
          </a:p>
        </p:txBody>
      </p:sp>
      <p:sp>
        <p:nvSpPr>
          <p:cNvPr id="480" name="Google Shape;480;p34"/>
          <p:cNvSpPr txBox="1"/>
          <p:nvPr/>
        </p:nvSpPr>
        <p:spPr>
          <a:xfrm>
            <a:off x="4991150"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Creating a DMS Plan</a:t>
            </a:r>
            <a:endParaRPr b="1" sz="1500">
              <a:solidFill>
                <a:srgbClr val="B7B7B7"/>
              </a:solidFill>
              <a:latin typeface="Lato"/>
              <a:ea typeface="Lato"/>
              <a:cs typeface="Lato"/>
              <a:sym typeface="Lato"/>
            </a:endParaRPr>
          </a:p>
        </p:txBody>
      </p:sp>
      <p:sp>
        <p:nvSpPr>
          <p:cNvPr id="481" name="Google Shape;481;p34"/>
          <p:cNvSpPr txBox="1"/>
          <p:nvPr/>
        </p:nvSpPr>
        <p:spPr>
          <a:xfrm>
            <a:off x="7567600" y="3407775"/>
            <a:ext cx="1283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Submission Tips</a:t>
            </a:r>
            <a:endParaRPr b="1" sz="1500">
              <a:solidFill>
                <a:srgbClr val="B7B7B7"/>
              </a:solidFill>
              <a:latin typeface="Lato"/>
              <a:ea typeface="Lato"/>
              <a:cs typeface="Lato"/>
              <a:sym typeface="Lato"/>
            </a:endParaRPr>
          </a:p>
        </p:txBody>
      </p:sp>
      <p:sp>
        <p:nvSpPr>
          <p:cNvPr id="482" name="Google Shape;482;p34"/>
          <p:cNvSpPr txBox="1"/>
          <p:nvPr/>
        </p:nvSpPr>
        <p:spPr>
          <a:xfrm>
            <a:off x="7264700" y="578075"/>
            <a:ext cx="16584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chemeClr val="dk1"/>
                </a:solidFill>
                <a:latin typeface="Lato"/>
                <a:ea typeface="Lato"/>
                <a:cs typeface="Lato"/>
                <a:sym typeface="Lato"/>
              </a:rPr>
              <a:t>Post Submission Tips</a:t>
            </a:r>
            <a:endParaRPr b="1" sz="1500">
              <a:solidFill>
                <a:schemeClr val="dk1"/>
              </a:solidFill>
              <a:latin typeface="Lato"/>
              <a:ea typeface="Lato"/>
              <a:cs typeface="Lato"/>
              <a:sym typeface="Lato"/>
            </a:endParaRPr>
          </a:p>
        </p:txBody>
      </p:sp>
      <p:sp>
        <p:nvSpPr>
          <p:cNvPr id="483" name="Google Shape;483;p34"/>
          <p:cNvSpPr txBox="1"/>
          <p:nvPr/>
        </p:nvSpPr>
        <p:spPr>
          <a:xfrm>
            <a:off x="2454775" y="578075"/>
            <a:ext cx="1586700" cy="646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Data Storage</a:t>
            </a:r>
            <a:endParaRPr b="1" sz="1500">
              <a:solidFill>
                <a:srgbClr val="B7B7B7"/>
              </a:solidFill>
              <a:latin typeface="Lato"/>
              <a:ea typeface="Lato"/>
              <a:cs typeface="Lato"/>
              <a:sym typeface="Lato"/>
            </a:endParaRPr>
          </a:p>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Options</a:t>
            </a:r>
            <a:endParaRPr b="1" sz="1500">
              <a:solidFill>
                <a:srgbClr val="B7B7B7"/>
              </a:solidFill>
              <a:latin typeface="Lato"/>
              <a:ea typeface="Lato"/>
              <a:cs typeface="Lato"/>
              <a:sym typeface="Lato"/>
            </a:endParaRPr>
          </a:p>
        </p:txBody>
      </p:sp>
      <p:sp>
        <p:nvSpPr>
          <p:cNvPr id="484" name="Google Shape;484;p34"/>
          <p:cNvSpPr txBox="1"/>
          <p:nvPr/>
        </p:nvSpPr>
        <p:spPr>
          <a:xfrm>
            <a:off x="3810550" y="3890875"/>
            <a:ext cx="1586700" cy="415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b="1" lang="en" sz="1500">
                <a:solidFill>
                  <a:srgbClr val="B7B7B7"/>
                </a:solidFill>
                <a:latin typeface="Lato"/>
                <a:ea typeface="Lato"/>
                <a:cs typeface="Lato"/>
                <a:sym typeface="Lato"/>
              </a:rPr>
              <a:t>Budgeting</a:t>
            </a:r>
            <a:endParaRPr b="1" sz="1500">
              <a:solidFill>
                <a:srgbClr val="B7B7B7"/>
              </a:solidFill>
              <a:latin typeface="Lato"/>
              <a:ea typeface="Lato"/>
              <a:cs typeface="Lato"/>
              <a:sym typeface="Lato"/>
            </a:endParaRPr>
          </a:p>
        </p:txBody>
      </p:sp>
      <p:pic>
        <p:nvPicPr>
          <p:cNvPr id="476" name="Google Shape;476;p34"/>
          <p:cNvPicPr preferRelativeResize="0"/>
          <p:nvPr/>
        </p:nvPicPr>
        <p:blipFill rotWithShape="1">
          <a:blip r:embed="rId9">
            <a:alphaModFix/>
          </a:blip>
          <a:srcRect b="0" l="0" r="0" t="0"/>
          <a:stretch/>
        </p:blipFill>
        <p:spPr>
          <a:xfrm>
            <a:off x="7567608" y="1158425"/>
            <a:ext cx="1283789" cy="128380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5"/>
          <p:cNvSpPr txBox="1"/>
          <p:nvPr/>
        </p:nvSpPr>
        <p:spPr>
          <a:xfrm>
            <a:off x="0" y="2275100"/>
            <a:ext cx="4572000" cy="11082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SzPts val="2000"/>
              <a:buFont typeface="Lato"/>
              <a:buChar char="●"/>
            </a:pPr>
            <a:r>
              <a:rPr lang="en" sz="2000">
                <a:solidFill>
                  <a:schemeClr val="lt1"/>
                </a:solidFill>
                <a:latin typeface="Lato"/>
                <a:ea typeface="Lato"/>
                <a:cs typeface="Lato"/>
                <a:sym typeface="Lato"/>
              </a:rPr>
              <a:t>results used to publish papers</a:t>
            </a:r>
            <a:endParaRPr sz="2000">
              <a:solidFill>
                <a:schemeClr val="lt1"/>
              </a:solidFill>
              <a:latin typeface="Lato"/>
              <a:ea typeface="Lato"/>
              <a:cs typeface="Lato"/>
              <a:sym typeface="Lato"/>
            </a:endParaRPr>
          </a:p>
          <a:p>
            <a:pPr indent="-355600" lvl="0" marL="457200" rtl="0" algn="l">
              <a:spcBef>
                <a:spcPts val="0"/>
              </a:spcBef>
              <a:spcAft>
                <a:spcPts val="0"/>
              </a:spcAft>
              <a:buSzPts val="2000"/>
              <a:buFont typeface="Lato"/>
              <a:buChar char="●"/>
            </a:pPr>
            <a:r>
              <a:rPr lang="en" sz="2000">
                <a:latin typeface="Lato"/>
                <a:ea typeface="Lato"/>
                <a:cs typeface="Lato"/>
                <a:sym typeface="Lato"/>
              </a:rPr>
              <a:t>unpublished results</a:t>
            </a:r>
            <a:endParaRPr sz="2000">
              <a:latin typeface="Lato"/>
              <a:ea typeface="Lato"/>
              <a:cs typeface="Lato"/>
              <a:sym typeface="Lato"/>
            </a:endParaRPr>
          </a:p>
          <a:p>
            <a:pPr indent="-355600" lvl="0" marL="457200" rtl="0" algn="l">
              <a:spcBef>
                <a:spcPts val="0"/>
              </a:spcBef>
              <a:spcAft>
                <a:spcPts val="0"/>
              </a:spcAft>
              <a:buSzPts val="2000"/>
              <a:buFont typeface="Lato"/>
              <a:buChar char="●"/>
            </a:pPr>
            <a:r>
              <a:rPr lang="en" sz="2000">
                <a:latin typeface="Lato"/>
                <a:ea typeface="Lato"/>
                <a:cs typeface="Lato"/>
                <a:sym typeface="Lato"/>
              </a:rPr>
              <a:t>null results</a:t>
            </a:r>
            <a:endParaRPr sz="2000">
              <a:latin typeface="Lato"/>
              <a:ea typeface="Lato"/>
              <a:cs typeface="Lato"/>
              <a:sym typeface="Lato"/>
            </a:endParaRPr>
          </a:p>
        </p:txBody>
      </p:sp>
      <p:sp>
        <p:nvSpPr>
          <p:cNvPr id="490" name="Google Shape;490;p35"/>
          <p:cNvSpPr txBox="1"/>
          <p:nvPr/>
        </p:nvSpPr>
        <p:spPr>
          <a:xfrm>
            <a:off x="4572000" y="2275100"/>
            <a:ext cx="4572000" cy="25242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Lato"/>
              <a:buChar char="●"/>
            </a:pPr>
            <a:r>
              <a:rPr lang="en" sz="1900">
                <a:latin typeface="Lato"/>
                <a:ea typeface="Lato"/>
                <a:cs typeface="Lato"/>
                <a:sym typeface="Lato"/>
              </a:rPr>
              <a:t>lab notebooks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preliminary analyses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case report forms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drafts of scientific papers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plans for future research</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peer reviews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communications with colleagues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physical objects</a:t>
            </a:r>
            <a:endParaRPr sz="1900">
              <a:latin typeface="Lato"/>
              <a:ea typeface="Lato"/>
              <a:cs typeface="Lato"/>
              <a:sym typeface="Lato"/>
            </a:endParaRPr>
          </a:p>
        </p:txBody>
      </p:sp>
      <p:pic>
        <p:nvPicPr>
          <p:cNvPr id="491" name="Google Shape;491;p35"/>
          <p:cNvPicPr preferRelativeResize="0"/>
          <p:nvPr/>
        </p:nvPicPr>
        <p:blipFill>
          <a:blip r:embed="rId3">
            <a:alphaModFix/>
          </a:blip>
          <a:stretch>
            <a:fillRect/>
          </a:stretch>
        </p:blipFill>
        <p:spPr>
          <a:xfrm>
            <a:off x="1760220" y="1166900"/>
            <a:ext cx="1051560" cy="1051560"/>
          </a:xfrm>
          <a:prstGeom prst="rect">
            <a:avLst/>
          </a:prstGeom>
          <a:noFill/>
          <a:ln>
            <a:noFill/>
          </a:ln>
        </p:spPr>
      </p:pic>
      <p:pic>
        <p:nvPicPr>
          <p:cNvPr id="492" name="Google Shape;492;p35"/>
          <p:cNvPicPr preferRelativeResize="0"/>
          <p:nvPr/>
        </p:nvPicPr>
        <p:blipFill>
          <a:blip r:embed="rId4">
            <a:alphaModFix/>
          </a:blip>
          <a:stretch>
            <a:fillRect/>
          </a:stretch>
        </p:blipFill>
        <p:spPr>
          <a:xfrm>
            <a:off x="6332220" y="1166900"/>
            <a:ext cx="1051560" cy="1051560"/>
          </a:xfrm>
          <a:prstGeom prst="rect">
            <a:avLst/>
          </a:prstGeom>
          <a:noFill/>
          <a:ln>
            <a:noFill/>
          </a:ln>
        </p:spPr>
      </p:pic>
      <p:pic>
        <p:nvPicPr>
          <p:cNvPr id="493" name="Google Shape;493;p35"/>
          <p:cNvPicPr preferRelativeResize="0"/>
          <p:nvPr/>
        </p:nvPicPr>
        <p:blipFill>
          <a:blip r:embed="rId5">
            <a:alphaModFix/>
          </a:blip>
          <a:stretch>
            <a:fillRect/>
          </a:stretch>
        </p:blipFill>
        <p:spPr>
          <a:xfrm>
            <a:off x="7547845" y="1166912"/>
            <a:ext cx="464837" cy="464876"/>
          </a:xfrm>
          <a:prstGeom prst="rect">
            <a:avLst/>
          </a:prstGeom>
          <a:noFill/>
          <a:ln>
            <a:noFill/>
          </a:ln>
        </p:spPr>
      </p:pic>
      <p:pic>
        <p:nvPicPr>
          <p:cNvPr id="494" name="Google Shape;494;p35"/>
          <p:cNvPicPr preferRelativeResize="0"/>
          <p:nvPr/>
        </p:nvPicPr>
        <p:blipFill>
          <a:blip r:embed="rId6">
            <a:alphaModFix/>
          </a:blip>
          <a:stretch>
            <a:fillRect/>
          </a:stretch>
        </p:blipFill>
        <p:spPr>
          <a:xfrm>
            <a:off x="7718327" y="1649675"/>
            <a:ext cx="521925" cy="521949"/>
          </a:xfrm>
          <a:prstGeom prst="rect">
            <a:avLst/>
          </a:prstGeom>
          <a:noFill/>
          <a:ln>
            <a:noFill/>
          </a:ln>
        </p:spPr>
      </p:pic>
      <p:pic>
        <p:nvPicPr>
          <p:cNvPr id="495" name="Google Shape;495;p35"/>
          <p:cNvPicPr preferRelativeResize="0"/>
          <p:nvPr/>
        </p:nvPicPr>
        <p:blipFill>
          <a:blip r:embed="rId7">
            <a:alphaModFix/>
          </a:blip>
          <a:stretch>
            <a:fillRect/>
          </a:stretch>
        </p:blipFill>
        <p:spPr>
          <a:xfrm>
            <a:off x="5472112" y="1358675"/>
            <a:ext cx="696050" cy="696050"/>
          </a:xfrm>
          <a:prstGeom prst="rect">
            <a:avLst/>
          </a:prstGeom>
          <a:noFill/>
          <a:ln>
            <a:noFill/>
          </a:ln>
        </p:spPr>
      </p:pic>
      <p:pic>
        <p:nvPicPr>
          <p:cNvPr id="496" name="Google Shape;496;p35"/>
          <p:cNvPicPr preferRelativeResize="0"/>
          <p:nvPr/>
        </p:nvPicPr>
        <p:blipFill>
          <a:blip r:embed="rId8">
            <a:alphaModFix/>
          </a:blip>
          <a:stretch>
            <a:fillRect/>
          </a:stretch>
        </p:blipFill>
        <p:spPr>
          <a:xfrm>
            <a:off x="3080875" y="1442687"/>
            <a:ext cx="640826" cy="640826"/>
          </a:xfrm>
          <a:prstGeom prst="rect">
            <a:avLst/>
          </a:prstGeom>
          <a:noFill/>
          <a:ln>
            <a:noFill/>
          </a:ln>
        </p:spPr>
      </p:pic>
      <p:grpSp>
        <p:nvGrpSpPr>
          <p:cNvPr id="497" name="Google Shape;497;p35"/>
          <p:cNvGrpSpPr/>
          <p:nvPr/>
        </p:nvGrpSpPr>
        <p:grpSpPr>
          <a:xfrm>
            <a:off x="850290" y="1465173"/>
            <a:ext cx="640804" cy="706446"/>
            <a:chOff x="540575" y="2772613"/>
            <a:chExt cx="1219651" cy="1344588"/>
          </a:xfrm>
        </p:grpSpPr>
        <p:pic>
          <p:nvPicPr>
            <p:cNvPr id="498" name="Google Shape;498;p35"/>
            <p:cNvPicPr preferRelativeResize="0"/>
            <p:nvPr/>
          </p:nvPicPr>
          <p:blipFill>
            <a:blip r:embed="rId8">
              <a:alphaModFix/>
            </a:blip>
            <a:stretch>
              <a:fillRect/>
            </a:stretch>
          </p:blipFill>
          <p:spPr>
            <a:xfrm>
              <a:off x="540575" y="2772613"/>
              <a:ext cx="1219651" cy="1219651"/>
            </a:xfrm>
            <a:prstGeom prst="rect">
              <a:avLst/>
            </a:prstGeom>
            <a:noFill/>
            <a:ln>
              <a:noFill/>
            </a:ln>
          </p:spPr>
        </p:pic>
        <p:pic>
          <p:nvPicPr>
            <p:cNvPr id="499" name="Google Shape;499;p35"/>
            <p:cNvPicPr preferRelativeResize="0"/>
            <p:nvPr/>
          </p:nvPicPr>
          <p:blipFill>
            <a:blip r:embed="rId9">
              <a:alphaModFix/>
            </a:blip>
            <a:stretch>
              <a:fillRect/>
            </a:stretch>
          </p:blipFill>
          <p:spPr>
            <a:xfrm>
              <a:off x="1401925" y="3758900"/>
              <a:ext cx="358300" cy="358300"/>
            </a:xfrm>
            <a:prstGeom prst="rect">
              <a:avLst/>
            </a:prstGeom>
            <a:noFill/>
            <a:ln>
              <a:noFill/>
            </a:ln>
          </p:spPr>
        </p:pic>
      </p:grpSp>
      <p:sp>
        <p:nvSpPr>
          <p:cNvPr id="500" name="Google Shape;500;p35"/>
          <p:cNvSpPr txBox="1"/>
          <p:nvPr/>
        </p:nvSpPr>
        <p:spPr>
          <a:xfrm rot="-678">
            <a:off x="711475" y="169455"/>
            <a:ext cx="7606200" cy="8157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accent3"/>
                </a:solidFill>
                <a:latin typeface="Indie Flower"/>
                <a:ea typeface="Indie Flower"/>
                <a:cs typeface="Indie Flower"/>
                <a:sym typeface="Indie Flower"/>
              </a:rPr>
              <a:t>Scientific Data is …</a:t>
            </a:r>
            <a:endParaRPr sz="4100">
              <a:solidFill>
                <a:schemeClr val="accent3"/>
              </a:solidFill>
              <a:latin typeface="Indie Flower"/>
              <a:ea typeface="Indie Flower"/>
              <a:cs typeface="Indie Flower"/>
              <a:sym typeface="Indie Flow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6"/>
          <p:cNvSpPr txBox="1"/>
          <p:nvPr/>
        </p:nvSpPr>
        <p:spPr>
          <a:xfrm>
            <a:off x="0" y="2275100"/>
            <a:ext cx="4572000" cy="24936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Informed consent restrictions</a:t>
            </a:r>
            <a:endParaRPr sz="1500">
              <a:solidFill>
                <a:schemeClr val="lt1"/>
              </a:solidFill>
              <a:latin typeface="Lato"/>
              <a:ea typeface="Lato"/>
              <a:cs typeface="Lato"/>
              <a:sym typeface="Lato"/>
            </a:endParaRPr>
          </a:p>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Existing consent prohibits sharing </a:t>
            </a:r>
            <a:endParaRPr sz="1500">
              <a:solidFill>
                <a:schemeClr val="lt1"/>
              </a:solidFill>
              <a:latin typeface="Lato"/>
              <a:ea typeface="Lato"/>
              <a:cs typeface="Lato"/>
              <a:sym typeface="Lato"/>
            </a:endParaRPr>
          </a:p>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Privacy or safety of research participants would be compromised or place them at greater risk of re-identification</a:t>
            </a:r>
            <a:endParaRPr sz="1500">
              <a:solidFill>
                <a:schemeClr val="lt1"/>
              </a:solidFill>
              <a:latin typeface="Lato"/>
              <a:ea typeface="Lato"/>
              <a:cs typeface="Lato"/>
              <a:sym typeface="Lato"/>
            </a:endParaRPr>
          </a:p>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Explicit federal, state, local, or Tribal law, regulation, or policy prohibits disclosure</a:t>
            </a:r>
            <a:endParaRPr sz="1500">
              <a:solidFill>
                <a:schemeClr val="lt1"/>
              </a:solidFill>
              <a:latin typeface="Lato"/>
              <a:ea typeface="Lato"/>
              <a:cs typeface="Lato"/>
              <a:sym typeface="Lato"/>
            </a:endParaRPr>
          </a:p>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Restrictions are imposed by agreements with other parties</a:t>
            </a:r>
            <a:endParaRPr sz="1500">
              <a:solidFill>
                <a:schemeClr val="lt1"/>
              </a:solidFill>
              <a:latin typeface="Lato"/>
              <a:ea typeface="Lato"/>
              <a:cs typeface="Lato"/>
              <a:sym typeface="Lato"/>
            </a:endParaRPr>
          </a:p>
          <a:p>
            <a:pPr indent="-323850" lvl="0" marL="457200" rtl="0" algn="l">
              <a:spcBef>
                <a:spcPts val="0"/>
              </a:spcBef>
              <a:spcAft>
                <a:spcPts val="0"/>
              </a:spcAft>
              <a:buSzPts val="1500"/>
              <a:buFont typeface="Lato"/>
              <a:buChar char="●"/>
            </a:pPr>
            <a:r>
              <a:rPr lang="en" sz="1500">
                <a:solidFill>
                  <a:schemeClr val="lt1"/>
                </a:solidFill>
                <a:latin typeface="Lato"/>
                <a:ea typeface="Lato"/>
                <a:cs typeface="Lato"/>
                <a:sym typeface="Lato"/>
              </a:rPr>
              <a:t>Datasets cannot practically be digitized</a:t>
            </a:r>
            <a:endParaRPr sz="700">
              <a:solidFill>
                <a:schemeClr val="lt1"/>
              </a:solidFill>
              <a:latin typeface="Lato"/>
              <a:ea typeface="Lato"/>
              <a:cs typeface="Lato"/>
              <a:sym typeface="Lato"/>
            </a:endParaRPr>
          </a:p>
        </p:txBody>
      </p:sp>
      <p:sp>
        <p:nvSpPr>
          <p:cNvPr id="506" name="Google Shape;506;p36"/>
          <p:cNvSpPr txBox="1"/>
          <p:nvPr/>
        </p:nvSpPr>
        <p:spPr>
          <a:xfrm>
            <a:off x="4572000" y="2275100"/>
            <a:ext cx="4572000" cy="2124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SzPts val="1800"/>
              <a:buFont typeface="Lato"/>
              <a:buChar char="●"/>
            </a:pPr>
            <a:r>
              <a:rPr lang="en" sz="1800">
                <a:latin typeface="Lato"/>
                <a:ea typeface="Lato"/>
                <a:cs typeface="Lato"/>
                <a:sym typeface="Lato"/>
              </a:rPr>
              <a:t>Data are considered too small</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en" sz="1800">
                <a:latin typeface="Lato"/>
                <a:ea typeface="Lato"/>
                <a:cs typeface="Lato"/>
                <a:sym typeface="Lato"/>
              </a:rPr>
              <a:t>Data will not be widely used</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en" sz="1800">
                <a:latin typeface="Lato"/>
                <a:ea typeface="Lato"/>
                <a:cs typeface="Lato"/>
                <a:sym typeface="Lato"/>
              </a:rPr>
              <a:t>Data are not thought to have a suitable repository</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en" sz="1800">
                <a:latin typeface="Lato"/>
                <a:ea typeface="Lato"/>
                <a:cs typeface="Lato"/>
                <a:sym typeface="Lato"/>
              </a:rPr>
              <a:t>You don't have the right personnel to manage or share data</a:t>
            </a:r>
            <a:endParaRPr sz="1800">
              <a:latin typeface="Lato"/>
              <a:ea typeface="Lato"/>
              <a:cs typeface="Lato"/>
              <a:sym typeface="Lato"/>
            </a:endParaRPr>
          </a:p>
          <a:p>
            <a:pPr indent="-342900" lvl="0" marL="457200" rtl="0" algn="l">
              <a:spcBef>
                <a:spcPts val="0"/>
              </a:spcBef>
              <a:spcAft>
                <a:spcPts val="0"/>
              </a:spcAft>
              <a:buSzPts val="1800"/>
              <a:buFont typeface="Lato"/>
              <a:buChar char="●"/>
            </a:pPr>
            <a:r>
              <a:rPr lang="en" sz="1800">
                <a:latin typeface="Lato"/>
                <a:ea typeface="Lato"/>
                <a:cs typeface="Lato"/>
                <a:sym typeface="Lato"/>
              </a:rPr>
              <a:t>You don't want to pay for data storage</a:t>
            </a:r>
            <a:endParaRPr sz="1800">
              <a:latin typeface="Lato"/>
              <a:ea typeface="Lato"/>
              <a:cs typeface="Lato"/>
              <a:sym typeface="Lato"/>
            </a:endParaRPr>
          </a:p>
        </p:txBody>
      </p:sp>
      <p:pic>
        <p:nvPicPr>
          <p:cNvPr id="507" name="Google Shape;507;p36"/>
          <p:cNvPicPr preferRelativeResize="0"/>
          <p:nvPr/>
        </p:nvPicPr>
        <p:blipFill>
          <a:blip r:embed="rId3">
            <a:alphaModFix/>
          </a:blip>
          <a:stretch>
            <a:fillRect/>
          </a:stretch>
        </p:blipFill>
        <p:spPr>
          <a:xfrm>
            <a:off x="1760220" y="1166900"/>
            <a:ext cx="1051560" cy="1051560"/>
          </a:xfrm>
          <a:prstGeom prst="rect">
            <a:avLst/>
          </a:prstGeom>
          <a:noFill/>
          <a:ln>
            <a:noFill/>
          </a:ln>
        </p:spPr>
      </p:pic>
      <p:pic>
        <p:nvPicPr>
          <p:cNvPr id="508" name="Google Shape;508;p36"/>
          <p:cNvPicPr preferRelativeResize="0"/>
          <p:nvPr/>
        </p:nvPicPr>
        <p:blipFill>
          <a:blip r:embed="rId4">
            <a:alphaModFix/>
          </a:blip>
          <a:stretch>
            <a:fillRect/>
          </a:stretch>
        </p:blipFill>
        <p:spPr>
          <a:xfrm>
            <a:off x="6332220" y="1166900"/>
            <a:ext cx="1051560" cy="1051560"/>
          </a:xfrm>
          <a:prstGeom prst="rect">
            <a:avLst/>
          </a:prstGeom>
          <a:noFill/>
          <a:ln>
            <a:noFill/>
          </a:ln>
        </p:spPr>
      </p:pic>
      <p:sp>
        <p:nvSpPr>
          <p:cNvPr id="509" name="Google Shape;509;p36"/>
          <p:cNvSpPr txBox="1"/>
          <p:nvPr/>
        </p:nvSpPr>
        <p:spPr>
          <a:xfrm rot="-678">
            <a:off x="711475" y="169455"/>
            <a:ext cx="7606200" cy="8157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accent3"/>
                </a:solidFill>
                <a:latin typeface="Indie Flower"/>
                <a:ea typeface="Indie Flower"/>
                <a:cs typeface="Indie Flower"/>
                <a:sym typeface="Indie Flower"/>
              </a:rPr>
              <a:t>Reasons Not to Share</a:t>
            </a:r>
            <a:endParaRPr sz="4100">
              <a:solidFill>
                <a:schemeClr val="accent3"/>
              </a:solidFill>
              <a:latin typeface="Indie Flower"/>
              <a:ea typeface="Indie Flower"/>
              <a:cs typeface="Indie Flower"/>
              <a:sym typeface="Indie Flower"/>
            </a:endParaRPr>
          </a:p>
        </p:txBody>
      </p:sp>
      <p:pic>
        <p:nvPicPr>
          <p:cNvPr id="510" name="Google Shape;510;p36"/>
          <p:cNvPicPr preferRelativeResize="0"/>
          <p:nvPr/>
        </p:nvPicPr>
        <p:blipFill>
          <a:blip r:embed="rId5">
            <a:alphaModFix/>
          </a:blip>
          <a:stretch>
            <a:fillRect/>
          </a:stretch>
        </p:blipFill>
        <p:spPr>
          <a:xfrm>
            <a:off x="7580650" y="1284075"/>
            <a:ext cx="817200" cy="817200"/>
          </a:xfrm>
          <a:prstGeom prst="rect">
            <a:avLst/>
          </a:prstGeom>
          <a:noFill/>
          <a:ln>
            <a:noFill/>
          </a:ln>
        </p:spPr>
      </p:pic>
      <p:pic>
        <p:nvPicPr>
          <p:cNvPr id="511" name="Google Shape;511;p36"/>
          <p:cNvPicPr preferRelativeResize="0"/>
          <p:nvPr/>
        </p:nvPicPr>
        <p:blipFill>
          <a:blip r:embed="rId6">
            <a:alphaModFix/>
          </a:blip>
          <a:stretch>
            <a:fillRect/>
          </a:stretch>
        </p:blipFill>
        <p:spPr>
          <a:xfrm>
            <a:off x="3437400" y="1857050"/>
            <a:ext cx="508975" cy="508975"/>
          </a:xfrm>
          <a:prstGeom prst="rect">
            <a:avLst/>
          </a:prstGeom>
          <a:noFill/>
          <a:ln>
            <a:noFill/>
          </a:ln>
        </p:spPr>
      </p:pic>
      <p:pic>
        <p:nvPicPr>
          <p:cNvPr id="512" name="Google Shape;512;p36"/>
          <p:cNvPicPr preferRelativeResize="0"/>
          <p:nvPr/>
        </p:nvPicPr>
        <p:blipFill>
          <a:blip r:embed="rId7">
            <a:alphaModFix/>
          </a:blip>
          <a:stretch>
            <a:fillRect/>
          </a:stretch>
        </p:blipFill>
        <p:spPr>
          <a:xfrm>
            <a:off x="3014075" y="1166900"/>
            <a:ext cx="577900" cy="577900"/>
          </a:xfrm>
          <a:prstGeom prst="rect">
            <a:avLst/>
          </a:prstGeom>
          <a:noFill/>
          <a:ln>
            <a:noFill/>
          </a:ln>
        </p:spPr>
      </p:pic>
      <p:pic>
        <p:nvPicPr>
          <p:cNvPr id="513" name="Google Shape;513;p36"/>
          <p:cNvPicPr preferRelativeResize="0"/>
          <p:nvPr/>
        </p:nvPicPr>
        <p:blipFill>
          <a:blip r:embed="rId8">
            <a:alphaModFix/>
          </a:blip>
          <a:stretch>
            <a:fillRect/>
          </a:stretch>
        </p:blipFill>
        <p:spPr>
          <a:xfrm>
            <a:off x="904225" y="1365825"/>
            <a:ext cx="653700" cy="653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pic>
        <p:nvPicPr>
          <p:cNvPr id="518" name="Google Shape;518;p37"/>
          <p:cNvPicPr preferRelativeResize="0"/>
          <p:nvPr/>
        </p:nvPicPr>
        <p:blipFill>
          <a:blip r:embed="rId3">
            <a:alphaModFix/>
          </a:blip>
          <a:stretch>
            <a:fillRect/>
          </a:stretch>
        </p:blipFill>
        <p:spPr>
          <a:xfrm>
            <a:off x="883163" y="0"/>
            <a:ext cx="7377670" cy="5143500"/>
          </a:xfrm>
          <a:prstGeom prst="rect">
            <a:avLst/>
          </a:prstGeom>
          <a:noFill/>
          <a:ln>
            <a:noFill/>
          </a:ln>
        </p:spPr>
      </p:pic>
      <p:sp>
        <p:nvSpPr>
          <p:cNvPr id="519" name="Google Shape;519;p37"/>
          <p:cNvSpPr/>
          <p:nvPr/>
        </p:nvSpPr>
        <p:spPr>
          <a:xfrm>
            <a:off x="3473325" y="2993525"/>
            <a:ext cx="500400" cy="340500"/>
          </a:xfrm>
          <a:prstGeom prst="rect">
            <a:avLst/>
          </a:prstGeom>
          <a:noFill/>
          <a:ln cap="flat" cmpd="sng" w="3810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20" name="Google Shape;520;p37"/>
          <p:cNvCxnSpPr/>
          <p:nvPr/>
        </p:nvCxnSpPr>
        <p:spPr>
          <a:xfrm rot="10800000">
            <a:off x="4050400" y="3334025"/>
            <a:ext cx="730200" cy="125100"/>
          </a:xfrm>
          <a:prstGeom prst="straightConnector1">
            <a:avLst/>
          </a:prstGeom>
          <a:noFill/>
          <a:ln cap="flat" cmpd="sng" w="38100">
            <a:solidFill>
              <a:schemeClr val="accent3"/>
            </a:solidFill>
            <a:prstDash val="solid"/>
            <a:round/>
            <a:headEnd len="med" w="med" type="none"/>
            <a:tailEnd len="med" w="med" type="triangle"/>
          </a:ln>
        </p:spPr>
      </p:cxnSp>
      <p:sp>
        <p:nvSpPr>
          <p:cNvPr id="521" name="Google Shape;521;p37"/>
          <p:cNvSpPr txBox="1"/>
          <p:nvPr/>
        </p:nvSpPr>
        <p:spPr>
          <a:xfrm>
            <a:off x="4780600" y="3216050"/>
            <a:ext cx="4005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accent3"/>
                </a:solidFill>
                <a:latin typeface="Lato"/>
                <a:ea typeface="Lato"/>
                <a:cs typeface="Lato"/>
                <a:sym typeface="Lato"/>
              </a:rPr>
              <a:t>Activity Code</a:t>
            </a:r>
            <a:endParaRPr b="1" sz="2300">
              <a:solidFill>
                <a:schemeClr val="accent3"/>
              </a:solidFill>
              <a:latin typeface="Lato"/>
              <a:ea typeface="Lato"/>
              <a:cs typeface="Lato"/>
              <a:sym typeface="Lato"/>
            </a:endParaRPr>
          </a:p>
        </p:txBody>
      </p:sp>
      <p:sp>
        <p:nvSpPr>
          <p:cNvPr id="522" name="Google Shape;522;p37"/>
          <p:cNvSpPr/>
          <p:nvPr/>
        </p:nvSpPr>
        <p:spPr>
          <a:xfrm>
            <a:off x="6299875" y="474575"/>
            <a:ext cx="1612800" cy="171600"/>
          </a:xfrm>
          <a:prstGeom prst="rect">
            <a:avLst/>
          </a:prstGeom>
          <a:solidFill>
            <a:srgbClr val="1A1C21"/>
          </a:solidFill>
          <a:ln cap="flat" cmpd="sng" w="9525">
            <a:solidFill>
              <a:srgbClr val="1A1C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38"/>
          <p:cNvPicPr preferRelativeResize="0"/>
          <p:nvPr/>
        </p:nvPicPr>
        <p:blipFill>
          <a:blip r:embed="rId3">
            <a:alphaModFix/>
          </a:blip>
          <a:stretch>
            <a:fillRect/>
          </a:stretch>
        </p:blipFill>
        <p:spPr>
          <a:xfrm>
            <a:off x="883184" y="0"/>
            <a:ext cx="7377633" cy="5143500"/>
          </a:xfrm>
          <a:prstGeom prst="rect">
            <a:avLst/>
          </a:prstGeom>
          <a:noFill/>
          <a:ln>
            <a:noFill/>
          </a:ln>
        </p:spPr>
      </p:pic>
      <p:cxnSp>
        <p:nvCxnSpPr>
          <p:cNvPr id="528" name="Google Shape;528;p38"/>
          <p:cNvCxnSpPr/>
          <p:nvPr/>
        </p:nvCxnSpPr>
        <p:spPr>
          <a:xfrm flipH="1" rot="10800000">
            <a:off x="1157775" y="2026800"/>
            <a:ext cx="855300" cy="14100"/>
          </a:xfrm>
          <a:prstGeom prst="straightConnector1">
            <a:avLst/>
          </a:prstGeom>
          <a:noFill/>
          <a:ln cap="flat" cmpd="sng" w="38100">
            <a:solidFill>
              <a:schemeClr val="accent3"/>
            </a:solidFill>
            <a:prstDash val="solid"/>
            <a:round/>
            <a:headEnd len="med" w="med" type="none"/>
            <a:tailEnd len="med" w="med" type="triangle"/>
          </a:ln>
        </p:spPr>
      </p:cxnSp>
      <p:sp>
        <p:nvSpPr>
          <p:cNvPr id="529" name="Google Shape;529;p38"/>
          <p:cNvSpPr txBox="1"/>
          <p:nvPr/>
        </p:nvSpPr>
        <p:spPr>
          <a:xfrm>
            <a:off x="441525" y="1764450"/>
            <a:ext cx="855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300">
                <a:solidFill>
                  <a:schemeClr val="accent3"/>
                </a:solidFill>
                <a:latin typeface="Lato"/>
                <a:ea typeface="Lato"/>
                <a:cs typeface="Lato"/>
                <a:sym typeface="Lato"/>
              </a:rPr>
              <a:t>R03</a:t>
            </a:r>
            <a:endParaRPr b="1" sz="2300">
              <a:solidFill>
                <a:schemeClr val="accent3"/>
              </a:solidFill>
              <a:latin typeface="Lato"/>
              <a:ea typeface="Lato"/>
              <a:cs typeface="Lato"/>
              <a:sym typeface="Lato"/>
            </a:endParaRPr>
          </a:p>
        </p:txBody>
      </p:sp>
      <p:cxnSp>
        <p:nvCxnSpPr>
          <p:cNvPr id="530" name="Google Shape;530;p38"/>
          <p:cNvCxnSpPr/>
          <p:nvPr/>
        </p:nvCxnSpPr>
        <p:spPr>
          <a:xfrm flipH="1" rot="10800000">
            <a:off x="6206100" y="2074875"/>
            <a:ext cx="826800" cy="404100"/>
          </a:xfrm>
          <a:prstGeom prst="straightConnector1">
            <a:avLst/>
          </a:prstGeom>
          <a:noFill/>
          <a:ln cap="flat" cmpd="sng" w="38100">
            <a:solidFill>
              <a:schemeClr val="accent3"/>
            </a:solidFill>
            <a:prstDash val="solid"/>
            <a:round/>
            <a:headEnd len="med" w="med" type="none"/>
            <a:tailEnd len="med" w="med" type="triangle"/>
          </a:ln>
        </p:spPr>
      </p:cxnSp>
      <p:sp>
        <p:nvSpPr>
          <p:cNvPr id="531" name="Google Shape;531;p38"/>
          <p:cNvSpPr txBox="1"/>
          <p:nvPr/>
        </p:nvSpPr>
        <p:spPr>
          <a:xfrm>
            <a:off x="3900900" y="2478975"/>
            <a:ext cx="2701500" cy="538800"/>
          </a:xfrm>
          <a:prstGeom prst="rect">
            <a:avLst/>
          </a:prstGeom>
          <a:solidFill>
            <a:srgbClr val="FFF4DB"/>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2300">
                <a:solidFill>
                  <a:schemeClr val="accent3"/>
                </a:solidFill>
                <a:latin typeface="Lato"/>
                <a:ea typeface="Lato"/>
                <a:cs typeface="Lato"/>
                <a:sym typeface="Lato"/>
              </a:rPr>
              <a:t>DMS Plan required</a:t>
            </a:r>
            <a:endParaRPr b="1" sz="2300">
              <a:solidFill>
                <a:schemeClr val="accent3"/>
              </a:solidFill>
              <a:latin typeface="Lato"/>
              <a:ea typeface="Lato"/>
              <a:cs typeface="Lato"/>
              <a:sym typeface="Lato"/>
            </a:endParaRPr>
          </a:p>
        </p:txBody>
      </p:sp>
      <p:sp>
        <p:nvSpPr>
          <p:cNvPr id="532" name="Google Shape;532;p38"/>
          <p:cNvSpPr/>
          <p:nvPr/>
        </p:nvSpPr>
        <p:spPr>
          <a:xfrm>
            <a:off x="6299875" y="474575"/>
            <a:ext cx="1612800" cy="171600"/>
          </a:xfrm>
          <a:prstGeom prst="rect">
            <a:avLst/>
          </a:prstGeom>
          <a:solidFill>
            <a:srgbClr val="1A1C21"/>
          </a:solidFill>
          <a:ln cap="flat" cmpd="sng" w="9525">
            <a:solidFill>
              <a:srgbClr val="1A1C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8"/>
          <p:cNvSpPr txBox="1"/>
          <p:nvPr/>
        </p:nvSpPr>
        <p:spPr>
          <a:xfrm>
            <a:off x="342225" y="4826725"/>
            <a:ext cx="6936000" cy="52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900">
                <a:latin typeface="Lato"/>
                <a:ea typeface="Lato"/>
                <a:cs typeface="Lato"/>
                <a:sym typeface="Lato"/>
              </a:rPr>
              <a:t>NIH Data Management and Sharing Plan Policy: Applicable Activity Codes.</a:t>
            </a:r>
            <a:endParaRPr sz="900">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9"/>
          <p:cNvSpPr txBox="1"/>
          <p:nvPr/>
        </p:nvSpPr>
        <p:spPr>
          <a:xfrm>
            <a:off x="5379100" y="2129625"/>
            <a:ext cx="3160500" cy="13545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Lato"/>
              <a:buChar char="●"/>
            </a:pPr>
            <a:r>
              <a:rPr lang="en" sz="1900">
                <a:latin typeface="Lato"/>
                <a:ea typeface="Lato"/>
                <a:cs typeface="Lato"/>
                <a:sym typeface="Lato"/>
              </a:rPr>
              <a:t>Facilities</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Indirect Administration</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Accessing other data</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Collecting data</a:t>
            </a:r>
            <a:endParaRPr sz="1900">
              <a:latin typeface="Lato"/>
              <a:ea typeface="Lato"/>
              <a:cs typeface="Lato"/>
              <a:sym typeface="Lato"/>
            </a:endParaRPr>
          </a:p>
        </p:txBody>
      </p:sp>
      <p:sp>
        <p:nvSpPr>
          <p:cNvPr id="539" name="Google Shape;539;p39"/>
          <p:cNvSpPr txBox="1"/>
          <p:nvPr/>
        </p:nvSpPr>
        <p:spPr>
          <a:xfrm rot="-653">
            <a:off x="711475" y="1236716"/>
            <a:ext cx="3160500" cy="815700"/>
          </a:xfrm>
          <a:prstGeom prst="rect">
            <a:avLst/>
          </a:prstGeom>
          <a:solidFill>
            <a:srgbClr val="D9EAD3"/>
          </a:solidFill>
          <a:ln cap="flat" cmpd="sng" w="2857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rgbClr val="38761D"/>
                </a:solidFill>
                <a:latin typeface="Indie Flower"/>
                <a:ea typeface="Indie Flower"/>
                <a:cs typeface="Indie Flower"/>
                <a:sym typeface="Indie Flower"/>
              </a:rPr>
              <a:t>Allowable</a:t>
            </a:r>
            <a:endParaRPr sz="4100">
              <a:solidFill>
                <a:srgbClr val="38761D"/>
              </a:solidFill>
              <a:latin typeface="Indie Flower"/>
              <a:ea typeface="Indie Flower"/>
              <a:cs typeface="Indie Flower"/>
              <a:sym typeface="Indie Flower"/>
            </a:endParaRPr>
          </a:p>
        </p:txBody>
      </p:sp>
      <p:sp>
        <p:nvSpPr>
          <p:cNvPr id="540" name="Google Shape;540;p39"/>
          <p:cNvSpPr txBox="1"/>
          <p:nvPr/>
        </p:nvSpPr>
        <p:spPr>
          <a:xfrm rot="-608">
            <a:off x="5263300" y="1236719"/>
            <a:ext cx="3392100" cy="815700"/>
          </a:xfrm>
          <a:prstGeom prst="rect">
            <a:avLst/>
          </a:prstGeom>
          <a:solidFill>
            <a:srgbClr val="F4CCCC"/>
          </a:solidFill>
          <a:ln cap="flat" cmpd="sng" w="28575">
            <a:solidFill>
              <a:srgbClr val="E06666"/>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4100">
                <a:solidFill>
                  <a:srgbClr val="990000"/>
                </a:solidFill>
                <a:latin typeface="Indie Flower"/>
                <a:ea typeface="Indie Flower"/>
                <a:cs typeface="Indie Flower"/>
                <a:sym typeface="Indie Flower"/>
              </a:rPr>
              <a:t>NOT</a:t>
            </a:r>
            <a:r>
              <a:rPr lang="en" sz="4100">
                <a:solidFill>
                  <a:srgbClr val="990000"/>
                </a:solidFill>
                <a:latin typeface="Indie Flower"/>
                <a:ea typeface="Indie Flower"/>
                <a:cs typeface="Indie Flower"/>
                <a:sym typeface="Indie Flower"/>
              </a:rPr>
              <a:t> </a:t>
            </a:r>
            <a:r>
              <a:rPr lang="en" sz="4100">
                <a:solidFill>
                  <a:srgbClr val="990000"/>
                </a:solidFill>
                <a:latin typeface="Indie Flower"/>
                <a:ea typeface="Indie Flower"/>
                <a:cs typeface="Indie Flower"/>
                <a:sym typeface="Indie Flower"/>
              </a:rPr>
              <a:t>Allowable</a:t>
            </a:r>
            <a:endParaRPr sz="4100">
              <a:solidFill>
                <a:srgbClr val="990000"/>
              </a:solidFill>
              <a:latin typeface="Indie Flower"/>
              <a:ea typeface="Indie Flower"/>
              <a:cs typeface="Indie Flower"/>
              <a:sym typeface="Indie Flower"/>
            </a:endParaRPr>
          </a:p>
        </p:txBody>
      </p:sp>
      <p:pic>
        <p:nvPicPr>
          <p:cNvPr id="541" name="Google Shape;541;p39"/>
          <p:cNvPicPr preferRelativeResize="0"/>
          <p:nvPr/>
        </p:nvPicPr>
        <p:blipFill>
          <a:blip r:embed="rId3">
            <a:alphaModFix/>
          </a:blip>
          <a:stretch>
            <a:fillRect/>
          </a:stretch>
        </p:blipFill>
        <p:spPr>
          <a:xfrm>
            <a:off x="4888003" y="1407811"/>
            <a:ext cx="473524" cy="473524"/>
          </a:xfrm>
          <a:prstGeom prst="rect">
            <a:avLst/>
          </a:prstGeom>
          <a:noFill/>
          <a:ln>
            <a:noFill/>
          </a:ln>
        </p:spPr>
      </p:pic>
      <p:pic>
        <p:nvPicPr>
          <p:cNvPr id="542" name="Google Shape;542;p39"/>
          <p:cNvPicPr preferRelativeResize="0"/>
          <p:nvPr/>
        </p:nvPicPr>
        <p:blipFill>
          <a:blip r:embed="rId4">
            <a:alphaModFix/>
          </a:blip>
          <a:stretch>
            <a:fillRect/>
          </a:stretch>
        </p:blipFill>
        <p:spPr>
          <a:xfrm>
            <a:off x="389129" y="1407800"/>
            <a:ext cx="473524" cy="473514"/>
          </a:xfrm>
          <a:prstGeom prst="rect">
            <a:avLst/>
          </a:prstGeom>
          <a:noFill/>
          <a:ln>
            <a:noFill/>
          </a:ln>
        </p:spPr>
      </p:pic>
      <p:sp>
        <p:nvSpPr>
          <p:cNvPr id="543" name="Google Shape;543;p39"/>
          <p:cNvSpPr txBox="1"/>
          <p:nvPr/>
        </p:nvSpPr>
        <p:spPr>
          <a:xfrm>
            <a:off x="440425" y="2129625"/>
            <a:ext cx="3702600" cy="2816700"/>
          </a:xfrm>
          <a:prstGeom prst="rect">
            <a:avLst/>
          </a:prstGeom>
          <a:noFill/>
          <a:ln>
            <a:noFill/>
          </a:ln>
        </p:spPr>
        <p:txBody>
          <a:bodyPr anchorCtr="0" anchor="t" bIns="91425" lIns="91425" spcFirstLastPara="1" rIns="91425" wrap="square" tIns="91425">
            <a:spAutoFit/>
          </a:bodyPr>
          <a:lstStyle/>
          <a:p>
            <a:pPr indent="-349250" lvl="0" marL="457200" rtl="0" algn="l">
              <a:spcBef>
                <a:spcPts val="0"/>
              </a:spcBef>
              <a:spcAft>
                <a:spcPts val="0"/>
              </a:spcAft>
              <a:buSzPts val="1900"/>
              <a:buFont typeface="Lato"/>
              <a:buChar char="●"/>
            </a:pPr>
            <a:r>
              <a:rPr lang="en" sz="1900">
                <a:latin typeface="Lato"/>
                <a:ea typeface="Lato"/>
                <a:cs typeface="Lato"/>
                <a:sym typeface="Lato"/>
              </a:rPr>
              <a:t>Local Management</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solidFill>
                  <a:schemeClr val="lt1"/>
                </a:solidFill>
                <a:latin typeface="Lato"/>
                <a:ea typeface="Lato"/>
                <a:cs typeface="Lato"/>
                <a:sym typeface="Lato"/>
              </a:rPr>
              <a:t>Curation</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Documentation</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Standardization</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Metadata</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Formatting</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solidFill>
                  <a:schemeClr val="lt1"/>
                </a:solidFill>
                <a:latin typeface="Lato"/>
                <a:ea typeface="Lato"/>
                <a:cs typeface="Lato"/>
                <a:sym typeface="Lato"/>
              </a:rPr>
              <a:t>De-identification</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Local to Repository Transfer</a:t>
            </a:r>
            <a:endParaRPr sz="1900">
              <a:latin typeface="Lato"/>
              <a:ea typeface="Lato"/>
              <a:cs typeface="Lato"/>
              <a:sym typeface="Lato"/>
            </a:endParaRPr>
          </a:p>
          <a:p>
            <a:pPr indent="-349250" lvl="0" marL="457200" rtl="0" algn="l">
              <a:spcBef>
                <a:spcPts val="0"/>
              </a:spcBef>
              <a:spcAft>
                <a:spcPts val="0"/>
              </a:spcAft>
              <a:buSzPts val="1900"/>
              <a:buFont typeface="Lato"/>
              <a:buChar char="●"/>
            </a:pPr>
            <a:r>
              <a:rPr lang="en" sz="1900">
                <a:latin typeface="Lato"/>
                <a:ea typeface="Lato"/>
                <a:cs typeface="Lato"/>
                <a:sym typeface="Lato"/>
              </a:rPr>
              <a:t>Repository Storage</a:t>
            </a:r>
            <a:endParaRPr sz="1900">
              <a:latin typeface="Lato"/>
              <a:ea typeface="Lato"/>
              <a:cs typeface="Lato"/>
              <a:sym typeface="Lato"/>
            </a:endParaRPr>
          </a:p>
        </p:txBody>
      </p:sp>
      <p:sp>
        <p:nvSpPr>
          <p:cNvPr id="544" name="Google Shape;544;p39"/>
          <p:cNvSpPr txBox="1"/>
          <p:nvPr/>
        </p:nvSpPr>
        <p:spPr>
          <a:xfrm rot="-678">
            <a:off x="711475" y="169455"/>
            <a:ext cx="7606200" cy="8157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accent3"/>
                </a:solidFill>
                <a:latin typeface="Indie Flower"/>
                <a:ea typeface="Indie Flower"/>
                <a:cs typeface="Indie Flower"/>
                <a:sym typeface="Indie Flower"/>
              </a:rPr>
              <a:t>W</a:t>
            </a:r>
            <a:r>
              <a:rPr lang="en" sz="4100">
                <a:solidFill>
                  <a:schemeClr val="accent3"/>
                </a:solidFill>
                <a:latin typeface="Indie Flower"/>
                <a:ea typeface="Indie Flower"/>
                <a:cs typeface="Indie Flower"/>
                <a:sym typeface="Indie Flower"/>
              </a:rPr>
              <a:t>hat Can I Budget For?</a:t>
            </a:r>
            <a:endParaRPr sz="4100">
              <a:solidFill>
                <a:schemeClr val="accent3"/>
              </a:solidFill>
              <a:latin typeface="Indie Flower"/>
              <a:ea typeface="Indie Flower"/>
              <a:cs typeface="Indie Flower"/>
              <a:sym typeface="Indie Flow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0"/>
          <p:cNvSpPr txBox="1"/>
          <p:nvPr/>
        </p:nvSpPr>
        <p:spPr>
          <a:xfrm rot="-678">
            <a:off x="768900" y="245655"/>
            <a:ext cx="7606200" cy="7080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400">
                <a:solidFill>
                  <a:schemeClr val="accent3"/>
                </a:solidFill>
                <a:latin typeface="Indie Flower"/>
                <a:ea typeface="Indie Flower"/>
                <a:cs typeface="Indie Flower"/>
                <a:sym typeface="Indie Flower"/>
              </a:rPr>
              <a:t>A phone with 64GB of storage can hold…</a:t>
            </a:r>
            <a:endParaRPr sz="3400">
              <a:solidFill>
                <a:schemeClr val="accent3"/>
              </a:solidFill>
              <a:latin typeface="Indie Flower"/>
              <a:ea typeface="Indie Flower"/>
              <a:cs typeface="Indie Flower"/>
              <a:sym typeface="Indie Flower"/>
            </a:endParaRPr>
          </a:p>
        </p:txBody>
      </p:sp>
      <p:pic>
        <p:nvPicPr>
          <p:cNvPr id="550" name="Google Shape;550;p40"/>
          <p:cNvPicPr preferRelativeResize="0"/>
          <p:nvPr/>
        </p:nvPicPr>
        <p:blipFill>
          <a:blip r:embed="rId3">
            <a:alphaModFix/>
          </a:blip>
          <a:stretch>
            <a:fillRect/>
          </a:stretch>
        </p:blipFill>
        <p:spPr>
          <a:xfrm>
            <a:off x="4114812" y="3933999"/>
            <a:ext cx="914401" cy="912945"/>
          </a:xfrm>
          <a:prstGeom prst="rect">
            <a:avLst/>
          </a:prstGeom>
          <a:noFill/>
          <a:ln>
            <a:noFill/>
          </a:ln>
        </p:spPr>
      </p:pic>
      <p:pic>
        <p:nvPicPr>
          <p:cNvPr id="551" name="Google Shape;551;p40"/>
          <p:cNvPicPr preferRelativeResize="0"/>
          <p:nvPr/>
        </p:nvPicPr>
        <p:blipFill>
          <a:blip r:embed="rId4">
            <a:alphaModFix/>
          </a:blip>
          <a:stretch>
            <a:fillRect/>
          </a:stretch>
        </p:blipFill>
        <p:spPr>
          <a:xfrm>
            <a:off x="4114812" y="1974183"/>
            <a:ext cx="914401" cy="912945"/>
          </a:xfrm>
          <a:prstGeom prst="rect">
            <a:avLst/>
          </a:prstGeom>
          <a:noFill/>
          <a:ln>
            <a:noFill/>
          </a:ln>
        </p:spPr>
      </p:pic>
      <p:pic>
        <p:nvPicPr>
          <p:cNvPr id="552" name="Google Shape;552;p40"/>
          <p:cNvPicPr preferRelativeResize="0"/>
          <p:nvPr/>
        </p:nvPicPr>
        <p:blipFill>
          <a:blip r:embed="rId5">
            <a:alphaModFix/>
          </a:blip>
          <a:stretch>
            <a:fillRect/>
          </a:stretch>
        </p:blipFill>
        <p:spPr>
          <a:xfrm>
            <a:off x="4114812" y="1094304"/>
            <a:ext cx="914401" cy="912945"/>
          </a:xfrm>
          <a:prstGeom prst="rect">
            <a:avLst/>
          </a:prstGeom>
          <a:noFill/>
          <a:ln>
            <a:noFill/>
          </a:ln>
        </p:spPr>
      </p:pic>
      <p:pic>
        <p:nvPicPr>
          <p:cNvPr id="553" name="Google Shape;553;p40"/>
          <p:cNvPicPr preferRelativeResize="0"/>
          <p:nvPr/>
        </p:nvPicPr>
        <p:blipFill>
          <a:blip r:embed="rId6">
            <a:alphaModFix/>
          </a:blip>
          <a:stretch>
            <a:fillRect/>
          </a:stretch>
        </p:blipFill>
        <p:spPr>
          <a:xfrm>
            <a:off x="4114812" y="2943412"/>
            <a:ext cx="914401" cy="912945"/>
          </a:xfrm>
          <a:prstGeom prst="rect">
            <a:avLst/>
          </a:prstGeom>
          <a:noFill/>
          <a:ln>
            <a:noFill/>
          </a:ln>
        </p:spPr>
      </p:pic>
      <p:pic>
        <p:nvPicPr>
          <p:cNvPr id="554" name="Google Shape;554;p40"/>
          <p:cNvPicPr preferRelativeResize="0"/>
          <p:nvPr/>
        </p:nvPicPr>
        <p:blipFill>
          <a:blip r:embed="rId7">
            <a:alphaModFix/>
          </a:blip>
          <a:stretch>
            <a:fillRect/>
          </a:stretch>
        </p:blipFill>
        <p:spPr>
          <a:xfrm>
            <a:off x="271012" y="3934044"/>
            <a:ext cx="914401" cy="912846"/>
          </a:xfrm>
          <a:prstGeom prst="rect">
            <a:avLst/>
          </a:prstGeom>
          <a:noFill/>
          <a:ln>
            <a:noFill/>
          </a:ln>
        </p:spPr>
      </p:pic>
      <p:pic>
        <p:nvPicPr>
          <p:cNvPr id="555" name="Google Shape;555;p40"/>
          <p:cNvPicPr preferRelativeResize="0"/>
          <p:nvPr/>
        </p:nvPicPr>
        <p:blipFill>
          <a:blip r:embed="rId8">
            <a:alphaModFix/>
          </a:blip>
          <a:stretch>
            <a:fillRect/>
          </a:stretch>
        </p:blipFill>
        <p:spPr>
          <a:xfrm>
            <a:off x="271012" y="1202450"/>
            <a:ext cx="914401" cy="912846"/>
          </a:xfrm>
          <a:prstGeom prst="rect">
            <a:avLst/>
          </a:prstGeom>
          <a:noFill/>
          <a:ln>
            <a:noFill/>
          </a:ln>
        </p:spPr>
      </p:pic>
      <p:pic>
        <p:nvPicPr>
          <p:cNvPr id="556" name="Google Shape;556;p40"/>
          <p:cNvPicPr preferRelativeResize="0"/>
          <p:nvPr/>
        </p:nvPicPr>
        <p:blipFill>
          <a:blip r:embed="rId8">
            <a:alphaModFix/>
          </a:blip>
          <a:stretch>
            <a:fillRect/>
          </a:stretch>
        </p:blipFill>
        <p:spPr>
          <a:xfrm>
            <a:off x="271012" y="2468210"/>
            <a:ext cx="914401" cy="912846"/>
          </a:xfrm>
          <a:prstGeom prst="rect">
            <a:avLst/>
          </a:prstGeom>
          <a:noFill/>
          <a:ln>
            <a:noFill/>
          </a:ln>
        </p:spPr>
      </p:pic>
      <p:sp>
        <p:nvSpPr>
          <p:cNvPr id="557" name="Google Shape;557;p40"/>
          <p:cNvSpPr txBox="1"/>
          <p:nvPr/>
        </p:nvSpPr>
        <p:spPr>
          <a:xfrm>
            <a:off x="1345175" y="1166275"/>
            <a:ext cx="234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1</a:t>
            </a:r>
            <a:r>
              <a:rPr lang="en" sz="2600">
                <a:latin typeface="Lato"/>
                <a:ea typeface="Lato"/>
                <a:cs typeface="Lato"/>
                <a:sym typeface="Lato"/>
              </a:rPr>
              <a:t> genomics (WGS) file</a:t>
            </a:r>
            <a:endParaRPr i="1" sz="2600">
              <a:latin typeface="Lato"/>
              <a:ea typeface="Lato"/>
              <a:cs typeface="Lato"/>
              <a:sym typeface="Lato"/>
            </a:endParaRPr>
          </a:p>
        </p:txBody>
      </p:sp>
      <p:sp>
        <p:nvSpPr>
          <p:cNvPr id="558" name="Google Shape;558;p40"/>
          <p:cNvSpPr txBox="1"/>
          <p:nvPr/>
        </p:nvSpPr>
        <p:spPr>
          <a:xfrm>
            <a:off x="1345175" y="2432025"/>
            <a:ext cx="2673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2</a:t>
            </a:r>
            <a:r>
              <a:rPr lang="en" sz="2600">
                <a:latin typeface="Lato"/>
                <a:ea typeface="Lato"/>
                <a:cs typeface="Lato"/>
                <a:sym typeface="Lato"/>
              </a:rPr>
              <a:t> </a:t>
            </a:r>
            <a:r>
              <a:rPr lang="en" sz="2600">
                <a:latin typeface="Lato"/>
                <a:ea typeface="Lato"/>
                <a:cs typeface="Lato"/>
                <a:sym typeface="Lato"/>
              </a:rPr>
              <a:t>genomics (RNA-seq) files</a:t>
            </a:r>
            <a:endParaRPr i="1" sz="2600">
              <a:latin typeface="Lato"/>
              <a:ea typeface="Lato"/>
              <a:cs typeface="Lato"/>
              <a:sym typeface="Lato"/>
            </a:endParaRPr>
          </a:p>
        </p:txBody>
      </p:sp>
      <p:sp>
        <p:nvSpPr>
          <p:cNvPr id="559" name="Google Shape;559;p40"/>
          <p:cNvSpPr txBox="1"/>
          <p:nvPr/>
        </p:nvSpPr>
        <p:spPr>
          <a:xfrm>
            <a:off x="1345175" y="3697775"/>
            <a:ext cx="2899500" cy="138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25</a:t>
            </a:r>
            <a:r>
              <a:rPr lang="en" sz="2600">
                <a:latin typeface="Lato"/>
                <a:ea typeface="Lato"/>
                <a:cs typeface="Lato"/>
                <a:sym typeface="Lato"/>
              </a:rPr>
              <a:t> imaging (human medical) files</a:t>
            </a:r>
            <a:endParaRPr i="1" sz="2600">
              <a:latin typeface="Lato"/>
              <a:ea typeface="Lato"/>
              <a:cs typeface="Lato"/>
              <a:sym typeface="Lato"/>
            </a:endParaRPr>
          </a:p>
        </p:txBody>
      </p:sp>
      <p:sp>
        <p:nvSpPr>
          <p:cNvPr id="560" name="Google Shape;560;p40"/>
          <p:cNvSpPr txBox="1"/>
          <p:nvPr/>
        </p:nvSpPr>
        <p:spPr>
          <a:xfrm>
            <a:off x="5142900" y="2907275"/>
            <a:ext cx="39765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8,000 </a:t>
            </a:r>
            <a:r>
              <a:rPr lang="en" sz="2600">
                <a:latin typeface="Lato"/>
                <a:ea typeface="Lato"/>
                <a:cs typeface="Lato"/>
                <a:sym typeface="Lato"/>
              </a:rPr>
              <a:t>imaging (microscopy) files</a:t>
            </a:r>
            <a:endParaRPr i="1" sz="2600">
              <a:latin typeface="Lato"/>
              <a:ea typeface="Lato"/>
              <a:cs typeface="Lato"/>
              <a:sym typeface="Lato"/>
            </a:endParaRPr>
          </a:p>
        </p:txBody>
      </p:sp>
      <p:sp>
        <p:nvSpPr>
          <p:cNvPr id="561" name="Google Shape;561;p40"/>
          <p:cNvSpPr txBox="1"/>
          <p:nvPr/>
        </p:nvSpPr>
        <p:spPr>
          <a:xfrm>
            <a:off x="5142900" y="1258275"/>
            <a:ext cx="3976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1,280</a:t>
            </a:r>
            <a:r>
              <a:rPr b="1" lang="en" sz="2600">
                <a:latin typeface="Lato"/>
                <a:ea typeface="Lato"/>
                <a:cs typeface="Lato"/>
                <a:sym typeface="Lato"/>
              </a:rPr>
              <a:t> </a:t>
            </a:r>
            <a:r>
              <a:rPr lang="en" sz="2600">
                <a:latin typeface="Lato"/>
                <a:ea typeface="Lato"/>
                <a:cs typeface="Lato"/>
                <a:sym typeface="Lato"/>
              </a:rPr>
              <a:t>flow cytometry </a:t>
            </a:r>
            <a:r>
              <a:rPr lang="en" sz="2600">
                <a:latin typeface="Lato"/>
                <a:ea typeface="Lato"/>
                <a:cs typeface="Lato"/>
                <a:sym typeface="Lato"/>
              </a:rPr>
              <a:t>files</a:t>
            </a:r>
            <a:endParaRPr i="1" sz="2600">
              <a:latin typeface="Lato"/>
              <a:ea typeface="Lato"/>
              <a:cs typeface="Lato"/>
              <a:sym typeface="Lato"/>
            </a:endParaRPr>
          </a:p>
        </p:txBody>
      </p:sp>
      <p:sp>
        <p:nvSpPr>
          <p:cNvPr id="562" name="Google Shape;562;p40"/>
          <p:cNvSpPr txBox="1"/>
          <p:nvPr/>
        </p:nvSpPr>
        <p:spPr>
          <a:xfrm>
            <a:off x="5142900" y="2138142"/>
            <a:ext cx="3976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2,560</a:t>
            </a:r>
            <a:r>
              <a:rPr b="1" lang="en" sz="2600">
                <a:latin typeface="Lato"/>
                <a:ea typeface="Lato"/>
                <a:cs typeface="Lato"/>
                <a:sym typeface="Lato"/>
              </a:rPr>
              <a:t> </a:t>
            </a:r>
            <a:r>
              <a:rPr lang="en" sz="2600">
                <a:latin typeface="Lato"/>
                <a:ea typeface="Lato"/>
                <a:cs typeface="Lato"/>
                <a:sym typeface="Lato"/>
              </a:rPr>
              <a:t>clinical trial</a:t>
            </a:r>
            <a:r>
              <a:rPr lang="en" sz="2600">
                <a:latin typeface="Lato"/>
                <a:ea typeface="Lato"/>
                <a:cs typeface="Lato"/>
                <a:sym typeface="Lato"/>
              </a:rPr>
              <a:t> files</a:t>
            </a:r>
            <a:endParaRPr i="1" sz="2600">
              <a:latin typeface="Lato"/>
              <a:ea typeface="Lato"/>
              <a:cs typeface="Lato"/>
              <a:sym typeface="Lato"/>
            </a:endParaRPr>
          </a:p>
        </p:txBody>
      </p:sp>
      <p:sp>
        <p:nvSpPr>
          <p:cNvPr id="563" name="Google Shape;563;p40"/>
          <p:cNvSpPr txBox="1"/>
          <p:nvPr/>
        </p:nvSpPr>
        <p:spPr>
          <a:xfrm>
            <a:off x="5142900" y="4097983"/>
            <a:ext cx="39765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600">
                <a:latin typeface="Lato"/>
                <a:ea typeface="Lato"/>
                <a:cs typeface="Lato"/>
                <a:sym typeface="Lato"/>
              </a:rPr>
              <a:t>12,800</a:t>
            </a:r>
            <a:r>
              <a:rPr b="1" lang="en" sz="2600">
                <a:latin typeface="Lato"/>
                <a:ea typeface="Lato"/>
                <a:cs typeface="Lato"/>
                <a:sym typeface="Lato"/>
              </a:rPr>
              <a:t> </a:t>
            </a:r>
            <a:r>
              <a:rPr lang="en" sz="2600">
                <a:latin typeface="Lato"/>
                <a:ea typeface="Lato"/>
                <a:cs typeface="Lato"/>
                <a:sym typeface="Lato"/>
              </a:rPr>
              <a:t>proteomics files</a:t>
            </a:r>
            <a:endParaRPr i="1" sz="2600">
              <a:latin typeface="Lato"/>
              <a:ea typeface="Lato"/>
              <a:cs typeface="Lato"/>
              <a:sym typeface="Lato"/>
            </a:endParaRPr>
          </a:p>
        </p:txBody>
      </p:sp>
      <p:pic>
        <p:nvPicPr>
          <p:cNvPr id="564" name="Google Shape;564;p40"/>
          <p:cNvPicPr preferRelativeResize="0"/>
          <p:nvPr/>
        </p:nvPicPr>
        <p:blipFill>
          <a:blip r:embed="rId9">
            <a:alphaModFix/>
          </a:blip>
          <a:stretch>
            <a:fillRect/>
          </a:stretch>
        </p:blipFill>
        <p:spPr>
          <a:xfrm rot="-1153214">
            <a:off x="300756" y="462888"/>
            <a:ext cx="663800" cy="663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pic>
        <p:nvPicPr>
          <p:cNvPr id="569" name="Google Shape;569;p41"/>
          <p:cNvPicPr preferRelativeResize="0"/>
          <p:nvPr/>
        </p:nvPicPr>
        <p:blipFill>
          <a:blip r:embed="rId3">
            <a:alphaModFix/>
          </a:blip>
          <a:stretch>
            <a:fillRect/>
          </a:stretch>
        </p:blipFill>
        <p:spPr>
          <a:xfrm>
            <a:off x="331777" y="0"/>
            <a:ext cx="8480445" cy="5143499"/>
          </a:xfrm>
          <a:prstGeom prst="rect">
            <a:avLst/>
          </a:prstGeom>
          <a:noFill/>
          <a:ln>
            <a:noFill/>
          </a:ln>
        </p:spPr>
      </p:pic>
      <p:sp>
        <p:nvSpPr>
          <p:cNvPr id="570" name="Google Shape;570;p41"/>
          <p:cNvSpPr/>
          <p:nvPr/>
        </p:nvSpPr>
        <p:spPr>
          <a:xfrm>
            <a:off x="6796950" y="501900"/>
            <a:ext cx="1637100" cy="171600"/>
          </a:xfrm>
          <a:prstGeom prst="rect">
            <a:avLst/>
          </a:prstGeom>
          <a:solidFill>
            <a:srgbClr val="1A1C21"/>
          </a:solidFill>
          <a:ln cap="flat" cmpd="sng" w="9525">
            <a:solidFill>
              <a:srgbClr val="1A1C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1"/>
          <p:cNvSpPr txBox="1"/>
          <p:nvPr/>
        </p:nvSpPr>
        <p:spPr>
          <a:xfrm>
            <a:off x="342225" y="4826725"/>
            <a:ext cx="6936000" cy="52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900">
                <a:latin typeface="Lato"/>
                <a:ea typeface="Lato"/>
                <a:cs typeface="Lato"/>
                <a:sym typeface="Lato"/>
              </a:rPr>
              <a:t> Interactive table of NIH-supported data repositories.</a:t>
            </a:r>
            <a:endParaRPr sz="900">
              <a:solidFill>
                <a:srgbClr val="000000"/>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2"/>
          <p:cNvSpPr txBox="1"/>
          <p:nvPr/>
        </p:nvSpPr>
        <p:spPr>
          <a:xfrm rot="-807">
            <a:off x="2017050" y="128262"/>
            <a:ext cx="5109900" cy="7080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400">
                <a:solidFill>
                  <a:schemeClr val="accent3"/>
                </a:solidFill>
                <a:latin typeface="Indie Flower"/>
                <a:ea typeface="Indie Flower"/>
                <a:cs typeface="Indie Flower"/>
                <a:sym typeface="Indie Flower"/>
              </a:rPr>
              <a:t>Which Repository is Right?</a:t>
            </a:r>
            <a:endParaRPr sz="3400">
              <a:solidFill>
                <a:schemeClr val="accent3"/>
              </a:solidFill>
              <a:latin typeface="Indie Flower"/>
              <a:ea typeface="Indie Flower"/>
              <a:cs typeface="Indie Flower"/>
              <a:sym typeface="Indie Flower"/>
            </a:endParaRPr>
          </a:p>
        </p:txBody>
      </p:sp>
      <p:sp>
        <p:nvSpPr>
          <p:cNvPr id="577" name="Google Shape;577;p42"/>
          <p:cNvSpPr txBox="1"/>
          <p:nvPr/>
        </p:nvSpPr>
        <p:spPr>
          <a:xfrm>
            <a:off x="1288149" y="892717"/>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2"/>
                </a:solidFill>
                <a:latin typeface="Lato"/>
                <a:ea typeface="Lato"/>
                <a:cs typeface="Lato"/>
                <a:sym typeface="Lato"/>
              </a:rPr>
              <a:t>yes</a:t>
            </a:r>
            <a:endParaRPr i="1" sz="1700">
              <a:solidFill>
                <a:schemeClr val="accent2"/>
              </a:solidFill>
              <a:latin typeface="Lato"/>
              <a:ea typeface="Lato"/>
              <a:cs typeface="Lato"/>
              <a:sym typeface="Lato"/>
            </a:endParaRPr>
          </a:p>
        </p:txBody>
      </p:sp>
      <p:sp>
        <p:nvSpPr>
          <p:cNvPr id="578" name="Google Shape;578;p42"/>
          <p:cNvSpPr txBox="1"/>
          <p:nvPr/>
        </p:nvSpPr>
        <p:spPr>
          <a:xfrm>
            <a:off x="153725" y="1567018"/>
            <a:ext cx="1629600" cy="923400"/>
          </a:xfrm>
          <a:prstGeom prst="rect">
            <a:avLst/>
          </a:prstGeom>
          <a:solidFill>
            <a:srgbClr val="FFF4DB"/>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accent3"/>
                </a:solidFill>
                <a:latin typeface="Lato"/>
                <a:ea typeface="Lato"/>
                <a:cs typeface="Lato"/>
                <a:sym typeface="Lato"/>
              </a:rPr>
              <a:t>Is a repository called out in the FOA?</a:t>
            </a:r>
            <a:endParaRPr b="1" sz="1600">
              <a:solidFill>
                <a:schemeClr val="accent3"/>
              </a:solidFill>
              <a:latin typeface="Lato"/>
              <a:ea typeface="Lato"/>
              <a:cs typeface="Lato"/>
              <a:sym typeface="Lato"/>
            </a:endParaRPr>
          </a:p>
        </p:txBody>
      </p:sp>
      <p:cxnSp>
        <p:nvCxnSpPr>
          <p:cNvPr id="579" name="Google Shape;579;p42"/>
          <p:cNvCxnSpPr>
            <a:stCxn id="578" idx="0"/>
          </p:cNvCxnSpPr>
          <p:nvPr/>
        </p:nvCxnSpPr>
        <p:spPr>
          <a:xfrm rot="-5400000">
            <a:off x="1472825" y="726718"/>
            <a:ext cx="336000" cy="1344600"/>
          </a:xfrm>
          <a:prstGeom prst="bentConnector2">
            <a:avLst/>
          </a:prstGeom>
          <a:noFill/>
          <a:ln cap="flat" cmpd="sng" w="28575">
            <a:solidFill>
              <a:schemeClr val="accent2"/>
            </a:solidFill>
            <a:prstDash val="solid"/>
            <a:round/>
            <a:headEnd len="med" w="med" type="none"/>
            <a:tailEnd len="med" w="med" type="stealth"/>
          </a:ln>
        </p:spPr>
      </p:cxnSp>
      <p:sp>
        <p:nvSpPr>
          <p:cNvPr id="580" name="Google Shape;580;p42"/>
          <p:cNvSpPr txBox="1"/>
          <p:nvPr/>
        </p:nvSpPr>
        <p:spPr>
          <a:xfrm>
            <a:off x="2313125" y="906129"/>
            <a:ext cx="2446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5"/>
                </a:solidFill>
                <a:latin typeface="Lato"/>
                <a:ea typeface="Lato"/>
                <a:cs typeface="Lato"/>
                <a:sym typeface="Lato"/>
              </a:rPr>
              <a:t>Use the repository listed in the FOA</a:t>
            </a:r>
            <a:endParaRPr i="1" sz="1600">
              <a:solidFill>
                <a:schemeClr val="accent5"/>
              </a:solidFill>
              <a:latin typeface="Lato"/>
              <a:ea typeface="Lato"/>
              <a:cs typeface="Lato"/>
              <a:sym typeface="Lato"/>
            </a:endParaRPr>
          </a:p>
        </p:txBody>
      </p:sp>
      <p:sp>
        <p:nvSpPr>
          <p:cNvPr id="581" name="Google Shape;581;p42"/>
          <p:cNvSpPr txBox="1"/>
          <p:nvPr/>
        </p:nvSpPr>
        <p:spPr>
          <a:xfrm>
            <a:off x="2306288" y="2118450"/>
            <a:ext cx="1927500" cy="1169700"/>
          </a:xfrm>
          <a:prstGeom prst="rect">
            <a:avLst/>
          </a:prstGeom>
          <a:solidFill>
            <a:srgbClr val="FFF4DB"/>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accent3"/>
                </a:solidFill>
                <a:latin typeface="Lato"/>
                <a:ea typeface="Lato"/>
                <a:cs typeface="Lato"/>
                <a:sym typeface="Lato"/>
              </a:rPr>
              <a:t>Can you find a reasonable repository in NIH’s interactive table?</a:t>
            </a:r>
            <a:endParaRPr b="1" sz="1600">
              <a:solidFill>
                <a:schemeClr val="accent3"/>
              </a:solidFill>
              <a:latin typeface="Lato"/>
              <a:ea typeface="Lato"/>
              <a:cs typeface="Lato"/>
              <a:sym typeface="Lato"/>
            </a:endParaRPr>
          </a:p>
        </p:txBody>
      </p:sp>
      <p:sp>
        <p:nvSpPr>
          <p:cNvPr id="582" name="Google Shape;582;p42"/>
          <p:cNvSpPr txBox="1"/>
          <p:nvPr/>
        </p:nvSpPr>
        <p:spPr>
          <a:xfrm>
            <a:off x="4606750" y="1480725"/>
            <a:ext cx="2257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5"/>
                </a:solidFill>
                <a:latin typeface="Lato"/>
                <a:ea typeface="Lato"/>
                <a:cs typeface="Lato"/>
                <a:sym typeface="Lato"/>
              </a:rPr>
              <a:t>Use the repository established for your data type</a:t>
            </a:r>
            <a:endParaRPr i="1" sz="1600">
              <a:solidFill>
                <a:schemeClr val="accent5"/>
              </a:solidFill>
              <a:latin typeface="Lato"/>
              <a:ea typeface="Lato"/>
              <a:cs typeface="Lato"/>
              <a:sym typeface="Lato"/>
            </a:endParaRPr>
          </a:p>
        </p:txBody>
      </p:sp>
      <p:sp>
        <p:nvSpPr>
          <p:cNvPr id="583" name="Google Shape;583;p42"/>
          <p:cNvSpPr txBox="1"/>
          <p:nvPr/>
        </p:nvSpPr>
        <p:spPr>
          <a:xfrm>
            <a:off x="3566490" y="1449000"/>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2"/>
                </a:solidFill>
                <a:latin typeface="Lato"/>
                <a:ea typeface="Lato"/>
                <a:cs typeface="Lato"/>
                <a:sym typeface="Lato"/>
              </a:rPr>
              <a:t>yes</a:t>
            </a:r>
            <a:endParaRPr i="1" sz="1700">
              <a:solidFill>
                <a:schemeClr val="accent2"/>
              </a:solidFill>
              <a:latin typeface="Lato"/>
              <a:ea typeface="Lato"/>
              <a:cs typeface="Lato"/>
              <a:sym typeface="Lato"/>
            </a:endParaRPr>
          </a:p>
        </p:txBody>
      </p:sp>
      <p:cxnSp>
        <p:nvCxnSpPr>
          <p:cNvPr id="584" name="Google Shape;584;p42"/>
          <p:cNvCxnSpPr/>
          <p:nvPr/>
        </p:nvCxnSpPr>
        <p:spPr>
          <a:xfrm flipH="1" rot="10800000">
            <a:off x="3205450" y="1798169"/>
            <a:ext cx="1407300" cy="318000"/>
          </a:xfrm>
          <a:prstGeom prst="bentConnector3">
            <a:avLst>
              <a:gd fmla="val 0" name="adj1"/>
            </a:avLst>
          </a:prstGeom>
          <a:noFill/>
          <a:ln cap="flat" cmpd="sng" w="28575">
            <a:solidFill>
              <a:schemeClr val="accent2"/>
            </a:solidFill>
            <a:prstDash val="solid"/>
            <a:round/>
            <a:headEnd len="med" w="med" type="none"/>
            <a:tailEnd len="med" w="med" type="stealth"/>
          </a:ln>
        </p:spPr>
      </p:cxnSp>
      <p:cxnSp>
        <p:nvCxnSpPr>
          <p:cNvPr id="585" name="Google Shape;585;p42"/>
          <p:cNvCxnSpPr>
            <a:stCxn id="581" idx="2"/>
          </p:cNvCxnSpPr>
          <p:nvPr/>
        </p:nvCxnSpPr>
        <p:spPr>
          <a:xfrm flipH="1" rot="-5400000">
            <a:off x="3816788" y="2741400"/>
            <a:ext cx="278700" cy="1372200"/>
          </a:xfrm>
          <a:prstGeom prst="bentConnector2">
            <a:avLst/>
          </a:prstGeom>
          <a:noFill/>
          <a:ln cap="flat" cmpd="sng" w="28575">
            <a:solidFill>
              <a:schemeClr val="accent4"/>
            </a:solidFill>
            <a:prstDash val="solid"/>
            <a:round/>
            <a:headEnd len="med" w="med" type="none"/>
            <a:tailEnd len="med" w="med" type="stealth"/>
          </a:ln>
        </p:spPr>
      </p:cxnSp>
      <p:sp>
        <p:nvSpPr>
          <p:cNvPr id="586" name="Google Shape;586;p42"/>
          <p:cNvSpPr txBox="1"/>
          <p:nvPr/>
        </p:nvSpPr>
        <p:spPr>
          <a:xfrm>
            <a:off x="3537225" y="3234086"/>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Lato"/>
                <a:ea typeface="Lato"/>
                <a:cs typeface="Lato"/>
                <a:sym typeface="Lato"/>
              </a:rPr>
              <a:t>no</a:t>
            </a:r>
            <a:endParaRPr i="1" sz="1700">
              <a:solidFill>
                <a:schemeClr val="accent4"/>
              </a:solidFill>
              <a:latin typeface="Lato"/>
              <a:ea typeface="Lato"/>
              <a:cs typeface="Lato"/>
              <a:sym typeface="Lato"/>
            </a:endParaRPr>
          </a:p>
        </p:txBody>
      </p:sp>
      <p:sp>
        <p:nvSpPr>
          <p:cNvPr id="587" name="Google Shape;587;p42"/>
          <p:cNvSpPr txBox="1"/>
          <p:nvPr/>
        </p:nvSpPr>
        <p:spPr>
          <a:xfrm>
            <a:off x="6968250" y="4225375"/>
            <a:ext cx="2257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5"/>
                </a:solidFill>
                <a:latin typeface="Lato"/>
                <a:ea typeface="Lato"/>
                <a:cs typeface="Lato"/>
                <a:sym typeface="Lato"/>
              </a:rPr>
              <a:t>Use</a:t>
            </a:r>
            <a:r>
              <a:rPr lang="en" sz="1600">
                <a:solidFill>
                  <a:schemeClr val="accent5"/>
                </a:solidFill>
                <a:latin typeface="Lato"/>
                <a:ea typeface="Lato"/>
                <a:cs typeface="Lato"/>
                <a:sym typeface="Lato"/>
              </a:rPr>
              <a:t> an institutional or generalist repository</a:t>
            </a:r>
            <a:endParaRPr i="1" sz="1600">
              <a:solidFill>
                <a:schemeClr val="accent5"/>
              </a:solidFill>
              <a:latin typeface="Lato"/>
              <a:ea typeface="Lato"/>
              <a:cs typeface="Lato"/>
              <a:sym typeface="Lato"/>
            </a:endParaRPr>
          </a:p>
        </p:txBody>
      </p:sp>
      <p:sp>
        <p:nvSpPr>
          <p:cNvPr id="588" name="Google Shape;588;p42"/>
          <p:cNvSpPr txBox="1"/>
          <p:nvPr/>
        </p:nvSpPr>
        <p:spPr>
          <a:xfrm>
            <a:off x="4648188" y="3234075"/>
            <a:ext cx="1927500" cy="1169700"/>
          </a:xfrm>
          <a:prstGeom prst="rect">
            <a:avLst/>
          </a:prstGeom>
          <a:solidFill>
            <a:srgbClr val="FFF4DB"/>
          </a:solidFill>
          <a:ln cap="flat" cmpd="sng" w="952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a:solidFill>
                  <a:schemeClr val="accent3"/>
                </a:solidFill>
                <a:latin typeface="Lato"/>
                <a:ea typeface="Lato"/>
                <a:cs typeface="Lato"/>
                <a:sym typeface="Lato"/>
              </a:rPr>
              <a:t>Can you find a reasonable repository in NIH’s additional links?</a:t>
            </a:r>
            <a:endParaRPr b="1" sz="1600">
              <a:solidFill>
                <a:schemeClr val="accent3"/>
              </a:solidFill>
              <a:latin typeface="Lato"/>
              <a:ea typeface="Lato"/>
              <a:cs typeface="Lato"/>
              <a:sym typeface="Lato"/>
            </a:endParaRPr>
          </a:p>
        </p:txBody>
      </p:sp>
      <p:sp>
        <p:nvSpPr>
          <p:cNvPr id="589" name="Google Shape;589;p42"/>
          <p:cNvSpPr txBox="1"/>
          <p:nvPr/>
        </p:nvSpPr>
        <p:spPr>
          <a:xfrm>
            <a:off x="6968250" y="2502675"/>
            <a:ext cx="20514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accent5"/>
                </a:solidFill>
                <a:latin typeface="Lato"/>
                <a:ea typeface="Lato"/>
                <a:cs typeface="Lato"/>
                <a:sym typeface="Lato"/>
              </a:rPr>
              <a:t>Use the repository established for your data type</a:t>
            </a:r>
            <a:endParaRPr i="1" sz="1600">
              <a:solidFill>
                <a:schemeClr val="accent5"/>
              </a:solidFill>
              <a:latin typeface="Lato"/>
              <a:ea typeface="Lato"/>
              <a:cs typeface="Lato"/>
              <a:sym typeface="Lato"/>
            </a:endParaRPr>
          </a:p>
        </p:txBody>
      </p:sp>
      <p:sp>
        <p:nvSpPr>
          <p:cNvPr id="590" name="Google Shape;590;p42"/>
          <p:cNvSpPr txBox="1"/>
          <p:nvPr/>
        </p:nvSpPr>
        <p:spPr>
          <a:xfrm>
            <a:off x="5928590" y="2571750"/>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2"/>
                </a:solidFill>
                <a:latin typeface="Lato"/>
                <a:ea typeface="Lato"/>
                <a:cs typeface="Lato"/>
                <a:sym typeface="Lato"/>
              </a:rPr>
              <a:t>yes</a:t>
            </a:r>
            <a:endParaRPr i="1" sz="1700">
              <a:solidFill>
                <a:schemeClr val="accent2"/>
              </a:solidFill>
              <a:latin typeface="Lato"/>
              <a:ea typeface="Lato"/>
              <a:cs typeface="Lato"/>
              <a:sym typeface="Lato"/>
            </a:endParaRPr>
          </a:p>
        </p:txBody>
      </p:sp>
      <p:cxnSp>
        <p:nvCxnSpPr>
          <p:cNvPr id="591" name="Google Shape;591;p42"/>
          <p:cNvCxnSpPr/>
          <p:nvPr/>
        </p:nvCxnSpPr>
        <p:spPr>
          <a:xfrm flipH="1" rot="10800000">
            <a:off x="5560944" y="2911911"/>
            <a:ext cx="1407300" cy="318000"/>
          </a:xfrm>
          <a:prstGeom prst="bentConnector3">
            <a:avLst>
              <a:gd fmla="val 0" name="adj1"/>
            </a:avLst>
          </a:prstGeom>
          <a:noFill/>
          <a:ln cap="flat" cmpd="sng" w="28575">
            <a:solidFill>
              <a:schemeClr val="accent2"/>
            </a:solidFill>
            <a:prstDash val="solid"/>
            <a:round/>
            <a:headEnd len="med" w="med" type="none"/>
            <a:tailEnd len="med" w="med" type="stealth"/>
          </a:ln>
        </p:spPr>
      </p:cxnSp>
      <p:cxnSp>
        <p:nvCxnSpPr>
          <p:cNvPr id="592" name="Google Shape;592;p42"/>
          <p:cNvCxnSpPr/>
          <p:nvPr/>
        </p:nvCxnSpPr>
        <p:spPr>
          <a:xfrm flipH="1" rot="-5400000">
            <a:off x="6102788" y="3864693"/>
            <a:ext cx="278700" cy="1372200"/>
          </a:xfrm>
          <a:prstGeom prst="bentConnector2">
            <a:avLst/>
          </a:prstGeom>
          <a:noFill/>
          <a:ln cap="flat" cmpd="sng" w="28575">
            <a:solidFill>
              <a:schemeClr val="accent4"/>
            </a:solidFill>
            <a:prstDash val="solid"/>
            <a:round/>
            <a:headEnd len="med" w="med" type="none"/>
            <a:tailEnd len="med" w="med" type="stealth"/>
          </a:ln>
        </p:spPr>
      </p:cxnSp>
      <p:sp>
        <p:nvSpPr>
          <p:cNvPr id="593" name="Google Shape;593;p42"/>
          <p:cNvSpPr txBox="1"/>
          <p:nvPr/>
        </p:nvSpPr>
        <p:spPr>
          <a:xfrm>
            <a:off x="5823225" y="4357379"/>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Lato"/>
                <a:ea typeface="Lato"/>
                <a:cs typeface="Lato"/>
                <a:sym typeface="Lato"/>
              </a:rPr>
              <a:t>no</a:t>
            </a:r>
            <a:endParaRPr i="1" sz="1700">
              <a:solidFill>
                <a:schemeClr val="accent4"/>
              </a:solidFill>
              <a:latin typeface="Lato"/>
              <a:ea typeface="Lato"/>
              <a:cs typeface="Lato"/>
              <a:sym typeface="Lato"/>
            </a:endParaRPr>
          </a:p>
        </p:txBody>
      </p:sp>
      <p:cxnSp>
        <p:nvCxnSpPr>
          <p:cNvPr id="594" name="Google Shape;594;p42"/>
          <p:cNvCxnSpPr/>
          <p:nvPr/>
        </p:nvCxnSpPr>
        <p:spPr>
          <a:xfrm flipH="1" rot="-5400000">
            <a:off x="1496388" y="1948544"/>
            <a:ext cx="278700" cy="1372200"/>
          </a:xfrm>
          <a:prstGeom prst="bentConnector2">
            <a:avLst/>
          </a:prstGeom>
          <a:noFill/>
          <a:ln cap="flat" cmpd="sng" w="28575">
            <a:solidFill>
              <a:schemeClr val="accent4"/>
            </a:solidFill>
            <a:prstDash val="solid"/>
            <a:round/>
            <a:headEnd len="med" w="med" type="none"/>
            <a:tailEnd len="med" w="med" type="stealth"/>
          </a:ln>
        </p:spPr>
      </p:cxnSp>
      <p:sp>
        <p:nvSpPr>
          <p:cNvPr id="595" name="Google Shape;595;p42"/>
          <p:cNvSpPr txBox="1"/>
          <p:nvPr/>
        </p:nvSpPr>
        <p:spPr>
          <a:xfrm>
            <a:off x="1216825" y="2441230"/>
            <a:ext cx="6720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accent4"/>
                </a:solidFill>
                <a:latin typeface="Lato"/>
                <a:ea typeface="Lato"/>
                <a:cs typeface="Lato"/>
                <a:sym typeface="Lato"/>
              </a:rPr>
              <a:t>no</a:t>
            </a:r>
            <a:endParaRPr i="1" sz="1700">
              <a:solidFill>
                <a:schemeClr val="accent4"/>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3"/>
          <p:cNvSpPr txBox="1"/>
          <p:nvPr/>
        </p:nvSpPr>
        <p:spPr>
          <a:xfrm rot="-678">
            <a:off x="616500" y="1354043"/>
            <a:ext cx="7606200" cy="738900"/>
          </a:xfrm>
          <a:prstGeom prst="rect">
            <a:avLst/>
          </a:prstGeom>
          <a:solidFill>
            <a:schemeClr val="accent5"/>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accent6"/>
                </a:solidFill>
                <a:latin typeface="Indie Flower"/>
                <a:ea typeface="Indie Flower"/>
                <a:cs typeface="Indie Flower"/>
                <a:sym typeface="Indie Flower"/>
              </a:rPr>
              <a:t>Two Pages or Less</a:t>
            </a:r>
            <a:endParaRPr sz="3600">
              <a:solidFill>
                <a:schemeClr val="accent6"/>
              </a:solidFill>
              <a:latin typeface="Indie Flower"/>
              <a:ea typeface="Indie Flower"/>
              <a:cs typeface="Indie Flower"/>
              <a:sym typeface="Indie Flower"/>
            </a:endParaRPr>
          </a:p>
        </p:txBody>
      </p:sp>
      <p:pic>
        <p:nvPicPr>
          <p:cNvPr id="601" name="Google Shape;601;p43"/>
          <p:cNvPicPr preferRelativeResize="0"/>
          <p:nvPr/>
        </p:nvPicPr>
        <p:blipFill>
          <a:blip r:embed="rId3">
            <a:alphaModFix/>
          </a:blip>
          <a:stretch>
            <a:fillRect/>
          </a:stretch>
        </p:blipFill>
        <p:spPr>
          <a:xfrm>
            <a:off x="7381887" y="1015000"/>
            <a:ext cx="1371600" cy="1371600"/>
          </a:xfrm>
          <a:prstGeom prst="rect">
            <a:avLst/>
          </a:prstGeom>
          <a:noFill/>
          <a:ln>
            <a:noFill/>
          </a:ln>
        </p:spPr>
      </p:pic>
      <p:sp>
        <p:nvSpPr>
          <p:cNvPr id="602" name="Google Shape;602;p43"/>
          <p:cNvSpPr txBox="1"/>
          <p:nvPr/>
        </p:nvSpPr>
        <p:spPr>
          <a:xfrm rot="-678">
            <a:off x="616500" y="3712868"/>
            <a:ext cx="7606200" cy="738900"/>
          </a:xfrm>
          <a:prstGeom prst="rect">
            <a:avLst/>
          </a:prstGeom>
          <a:solidFill>
            <a:srgbClr val="0A799A"/>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accent6"/>
                </a:solidFill>
                <a:latin typeface="Indie Flower"/>
                <a:ea typeface="Indie Flower"/>
                <a:cs typeface="Indie Flower"/>
                <a:sym typeface="Indie Flower"/>
              </a:rPr>
              <a:t>Planned with Program Officer</a:t>
            </a:r>
            <a:endParaRPr sz="3600">
              <a:solidFill>
                <a:schemeClr val="accent6"/>
              </a:solidFill>
              <a:latin typeface="Indie Flower"/>
              <a:ea typeface="Indie Flower"/>
              <a:cs typeface="Indie Flower"/>
              <a:sym typeface="Indie Flower"/>
            </a:endParaRPr>
          </a:p>
        </p:txBody>
      </p:sp>
      <p:pic>
        <p:nvPicPr>
          <p:cNvPr id="603" name="Google Shape;603;p43"/>
          <p:cNvPicPr preferRelativeResize="0"/>
          <p:nvPr/>
        </p:nvPicPr>
        <p:blipFill>
          <a:blip r:embed="rId4">
            <a:alphaModFix/>
          </a:blip>
          <a:stretch>
            <a:fillRect/>
          </a:stretch>
        </p:blipFill>
        <p:spPr>
          <a:xfrm>
            <a:off x="7381887" y="3429450"/>
            <a:ext cx="1371600" cy="1371600"/>
          </a:xfrm>
          <a:prstGeom prst="rect">
            <a:avLst/>
          </a:prstGeom>
          <a:noFill/>
          <a:ln>
            <a:noFill/>
          </a:ln>
        </p:spPr>
      </p:pic>
      <p:sp>
        <p:nvSpPr>
          <p:cNvPr id="604" name="Google Shape;604;p43"/>
          <p:cNvSpPr txBox="1"/>
          <p:nvPr/>
        </p:nvSpPr>
        <p:spPr>
          <a:xfrm rot="-678">
            <a:off x="997500" y="2538580"/>
            <a:ext cx="7606200" cy="738900"/>
          </a:xfrm>
          <a:prstGeom prst="rect">
            <a:avLst/>
          </a:prstGeom>
          <a:solidFill>
            <a:srgbClr val="0A799A"/>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600">
                <a:solidFill>
                  <a:schemeClr val="accent6"/>
                </a:solidFill>
                <a:latin typeface="Indie Flower"/>
                <a:ea typeface="Indie Flower"/>
                <a:cs typeface="Indie Flower"/>
                <a:sym typeface="Indie Flower"/>
              </a:rPr>
              <a:t>Free from Confidential Info / hyperlinks</a:t>
            </a:r>
            <a:endParaRPr sz="3600">
              <a:solidFill>
                <a:schemeClr val="accent6"/>
              </a:solidFill>
              <a:latin typeface="Indie Flower"/>
              <a:ea typeface="Indie Flower"/>
              <a:cs typeface="Indie Flower"/>
              <a:sym typeface="Indie Flower"/>
            </a:endParaRPr>
          </a:p>
        </p:txBody>
      </p:sp>
      <p:pic>
        <p:nvPicPr>
          <p:cNvPr id="605" name="Google Shape;605;p43"/>
          <p:cNvPicPr preferRelativeResize="0"/>
          <p:nvPr/>
        </p:nvPicPr>
        <p:blipFill>
          <a:blip r:embed="rId5">
            <a:alphaModFix/>
          </a:blip>
          <a:stretch>
            <a:fillRect/>
          </a:stretch>
        </p:blipFill>
        <p:spPr>
          <a:xfrm>
            <a:off x="-51212" y="2217088"/>
            <a:ext cx="1371600" cy="1371600"/>
          </a:xfrm>
          <a:prstGeom prst="rect">
            <a:avLst/>
          </a:prstGeom>
          <a:noFill/>
          <a:ln>
            <a:noFill/>
          </a:ln>
        </p:spPr>
      </p:pic>
      <p:sp>
        <p:nvSpPr>
          <p:cNvPr id="606" name="Google Shape;606;p43"/>
          <p:cNvSpPr txBox="1"/>
          <p:nvPr/>
        </p:nvSpPr>
        <p:spPr>
          <a:xfrm rot="-678">
            <a:off x="711475" y="169455"/>
            <a:ext cx="7606200" cy="8157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accent3"/>
                </a:solidFill>
                <a:latin typeface="Indie Flower"/>
                <a:ea typeface="Indie Flower"/>
                <a:cs typeface="Indie Flower"/>
                <a:sym typeface="Indie Flower"/>
              </a:rPr>
              <a:t>Make Sure Your Plan is…</a:t>
            </a:r>
            <a:endParaRPr sz="4100">
              <a:solidFill>
                <a:schemeClr val="accent3"/>
              </a:solidFill>
              <a:latin typeface="Indie Flower"/>
              <a:ea typeface="Indie Flower"/>
              <a:cs typeface="Indie Flower"/>
              <a:sym typeface="Indie Flowe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4"/>
          <p:cNvSpPr txBox="1"/>
          <p:nvPr/>
        </p:nvSpPr>
        <p:spPr>
          <a:xfrm rot="-861">
            <a:off x="2774850" y="493050"/>
            <a:ext cx="3594300" cy="815700"/>
          </a:xfrm>
          <a:prstGeom prst="rect">
            <a:avLst/>
          </a:prstGeom>
          <a:solidFill>
            <a:srgbClr val="FFF4DB"/>
          </a:solid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4100">
                <a:solidFill>
                  <a:schemeClr val="accent3"/>
                </a:solidFill>
                <a:latin typeface="Indie Flower"/>
                <a:ea typeface="Indie Flower"/>
                <a:cs typeface="Indie Flower"/>
                <a:sym typeface="Indie Flower"/>
              </a:rPr>
              <a:t>Don’t Panic!</a:t>
            </a:r>
            <a:endParaRPr sz="4100">
              <a:solidFill>
                <a:schemeClr val="accent3"/>
              </a:solidFill>
              <a:latin typeface="Indie Flower"/>
              <a:ea typeface="Indie Flower"/>
              <a:cs typeface="Indie Flower"/>
              <a:sym typeface="Indie Flower"/>
            </a:endParaRPr>
          </a:p>
        </p:txBody>
      </p:sp>
      <p:pic>
        <p:nvPicPr>
          <p:cNvPr id="612" name="Google Shape;612;p44"/>
          <p:cNvPicPr preferRelativeResize="0"/>
          <p:nvPr/>
        </p:nvPicPr>
        <p:blipFill>
          <a:blip r:embed="rId3">
            <a:alphaModFix/>
          </a:blip>
          <a:stretch>
            <a:fillRect/>
          </a:stretch>
        </p:blipFill>
        <p:spPr>
          <a:xfrm>
            <a:off x="2124223" y="132075"/>
            <a:ext cx="948825" cy="948825"/>
          </a:xfrm>
          <a:prstGeom prst="rect">
            <a:avLst/>
          </a:prstGeom>
          <a:noFill/>
          <a:ln>
            <a:noFill/>
          </a:ln>
        </p:spPr>
      </p:pic>
      <p:sp>
        <p:nvSpPr>
          <p:cNvPr id="613" name="Google Shape;613;p44"/>
          <p:cNvSpPr txBox="1"/>
          <p:nvPr/>
        </p:nvSpPr>
        <p:spPr>
          <a:xfrm>
            <a:off x="2500500" y="0"/>
            <a:ext cx="41430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accent5"/>
                </a:solidFill>
                <a:latin typeface="Lato"/>
                <a:ea typeface="Lato"/>
                <a:cs typeface="Lato"/>
                <a:sym typeface="Lato"/>
              </a:rPr>
              <a:t>Worried your plan isn’t perfect?</a:t>
            </a:r>
            <a:endParaRPr i="1" sz="2000">
              <a:solidFill>
                <a:schemeClr val="accent5"/>
              </a:solidFill>
              <a:latin typeface="Lato"/>
              <a:ea typeface="Lato"/>
              <a:cs typeface="Lato"/>
              <a:sym typeface="Lato"/>
            </a:endParaRPr>
          </a:p>
        </p:txBody>
      </p:sp>
      <p:sp>
        <p:nvSpPr>
          <p:cNvPr id="614" name="Google Shape;614;p44"/>
          <p:cNvSpPr txBox="1"/>
          <p:nvPr/>
        </p:nvSpPr>
        <p:spPr>
          <a:xfrm rot="-576">
            <a:off x="861775" y="1802175"/>
            <a:ext cx="7166700" cy="1108200"/>
          </a:xfrm>
          <a:prstGeom prst="rect">
            <a:avLst/>
          </a:prstGeom>
          <a:solidFill>
            <a:srgbClr val="D9EAD3"/>
          </a:solidFill>
          <a:ln cap="flat" cmpd="sng" w="2857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38761D"/>
                </a:solidFill>
                <a:latin typeface="Indie Flower"/>
                <a:ea typeface="Indie Flower"/>
                <a:cs typeface="Indie Flower"/>
                <a:sym typeface="Indie Flower"/>
              </a:rPr>
              <a:t>Update Your Plan during </a:t>
            </a:r>
            <a:r>
              <a:rPr b="1" lang="en" sz="3000" u="sng">
                <a:solidFill>
                  <a:srgbClr val="38761D"/>
                </a:solidFill>
                <a:latin typeface="Indie Flower"/>
                <a:ea typeface="Indie Flower"/>
                <a:cs typeface="Indie Flower"/>
                <a:sym typeface="Indie Flower"/>
              </a:rPr>
              <a:t>Just-In-Time</a:t>
            </a:r>
            <a:r>
              <a:rPr b="1" lang="en" sz="3000">
                <a:solidFill>
                  <a:srgbClr val="38761D"/>
                </a:solidFill>
                <a:latin typeface="Indie Flower"/>
                <a:ea typeface="Indie Flower"/>
                <a:cs typeface="Indie Flower"/>
                <a:sym typeface="Indie Flower"/>
              </a:rPr>
              <a:t> </a:t>
            </a:r>
            <a:endParaRPr b="1" sz="3000">
              <a:solidFill>
                <a:srgbClr val="38761D"/>
              </a:solidFill>
              <a:latin typeface="Indie Flower"/>
              <a:ea typeface="Indie Flower"/>
              <a:cs typeface="Indie Flower"/>
              <a:sym typeface="Indie Flower"/>
            </a:endParaRPr>
          </a:p>
          <a:p>
            <a:pPr indent="0" lvl="0" marL="0" rtl="0" algn="ctr">
              <a:spcBef>
                <a:spcPts val="0"/>
              </a:spcBef>
              <a:spcAft>
                <a:spcPts val="0"/>
              </a:spcAft>
              <a:buNone/>
            </a:pPr>
            <a:r>
              <a:rPr lang="en" sz="3000">
                <a:solidFill>
                  <a:srgbClr val="38761D"/>
                </a:solidFill>
                <a:latin typeface="Indie Flower"/>
                <a:ea typeface="Indie Flower"/>
                <a:cs typeface="Indie Flower"/>
                <a:sym typeface="Indie Flower"/>
              </a:rPr>
              <a:t>if not accepted</a:t>
            </a:r>
            <a:endParaRPr sz="3000">
              <a:solidFill>
                <a:srgbClr val="38761D"/>
              </a:solidFill>
              <a:latin typeface="Indie Flower"/>
              <a:ea typeface="Indie Flower"/>
              <a:cs typeface="Indie Flower"/>
              <a:sym typeface="Indie Flower"/>
            </a:endParaRPr>
          </a:p>
        </p:txBody>
      </p:sp>
      <p:sp>
        <p:nvSpPr>
          <p:cNvPr id="615" name="Google Shape;615;p44"/>
          <p:cNvSpPr txBox="1"/>
          <p:nvPr/>
        </p:nvSpPr>
        <p:spPr>
          <a:xfrm rot="-720">
            <a:off x="861775" y="3271357"/>
            <a:ext cx="7166700" cy="1108200"/>
          </a:xfrm>
          <a:prstGeom prst="rect">
            <a:avLst/>
          </a:prstGeom>
          <a:solidFill>
            <a:srgbClr val="D9EAD3"/>
          </a:solidFill>
          <a:ln cap="flat" cmpd="sng" w="28575">
            <a:solidFill>
              <a:srgbClr val="6AA84F"/>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rgbClr val="38761D"/>
                </a:solidFill>
                <a:latin typeface="Indie Flower"/>
                <a:ea typeface="Indie Flower"/>
                <a:cs typeface="Indie Flower"/>
                <a:sym typeface="Indie Flower"/>
              </a:rPr>
              <a:t>Update Your Plan during </a:t>
            </a:r>
            <a:r>
              <a:rPr b="1" lang="en" sz="3000" u="sng">
                <a:solidFill>
                  <a:srgbClr val="38761D"/>
                </a:solidFill>
                <a:latin typeface="Indie Flower"/>
                <a:ea typeface="Indie Flower"/>
                <a:cs typeface="Indie Flower"/>
                <a:sym typeface="Indie Flower"/>
              </a:rPr>
              <a:t>Regular Reporting</a:t>
            </a:r>
            <a:r>
              <a:rPr b="1" lang="en" sz="3000">
                <a:solidFill>
                  <a:srgbClr val="38761D"/>
                </a:solidFill>
                <a:latin typeface="Indie Flower"/>
                <a:ea typeface="Indie Flower"/>
                <a:cs typeface="Indie Flower"/>
                <a:sym typeface="Indie Flower"/>
              </a:rPr>
              <a:t> </a:t>
            </a:r>
            <a:r>
              <a:rPr lang="en" sz="3000">
                <a:solidFill>
                  <a:srgbClr val="38761D"/>
                </a:solidFill>
                <a:latin typeface="Indie Flower"/>
                <a:ea typeface="Indie Flower"/>
                <a:cs typeface="Indie Flower"/>
                <a:sym typeface="Indie Flower"/>
              </a:rPr>
              <a:t>if your resources or research change</a:t>
            </a:r>
            <a:endParaRPr sz="3000">
              <a:solidFill>
                <a:srgbClr val="38761D"/>
              </a:solidFill>
              <a:latin typeface="Indie Flower"/>
              <a:ea typeface="Indie Flower"/>
              <a:cs typeface="Indie Flower"/>
              <a:sym typeface="Indie Flower"/>
            </a:endParaRPr>
          </a:p>
        </p:txBody>
      </p:sp>
      <p:pic>
        <p:nvPicPr>
          <p:cNvPr id="616" name="Google Shape;616;p44"/>
          <p:cNvPicPr preferRelativeResize="0"/>
          <p:nvPr/>
        </p:nvPicPr>
        <p:blipFill>
          <a:blip r:embed="rId4">
            <a:alphaModFix/>
          </a:blip>
          <a:stretch>
            <a:fillRect/>
          </a:stretch>
        </p:blipFill>
        <p:spPr>
          <a:xfrm>
            <a:off x="607629" y="1549825"/>
            <a:ext cx="473524" cy="473514"/>
          </a:xfrm>
          <a:prstGeom prst="rect">
            <a:avLst/>
          </a:prstGeom>
          <a:noFill/>
          <a:ln>
            <a:noFill/>
          </a:ln>
        </p:spPr>
      </p:pic>
      <p:pic>
        <p:nvPicPr>
          <p:cNvPr id="617" name="Google Shape;617;p44"/>
          <p:cNvPicPr preferRelativeResize="0"/>
          <p:nvPr/>
        </p:nvPicPr>
        <p:blipFill>
          <a:blip r:embed="rId4">
            <a:alphaModFix/>
          </a:blip>
          <a:stretch>
            <a:fillRect/>
          </a:stretch>
        </p:blipFill>
        <p:spPr>
          <a:xfrm>
            <a:off x="607629" y="3030875"/>
            <a:ext cx="473524" cy="47351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pic>
        <p:nvPicPr>
          <p:cNvPr id="622" name="Google Shape;622;p45"/>
          <p:cNvPicPr preferRelativeResize="0"/>
          <p:nvPr/>
        </p:nvPicPr>
        <p:blipFill>
          <a:blip r:embed="rId3">
            <a:alphaModFix/>
          </a:blip>
          <a:stretch>
            <a:fillRect/>
          </a:stretch>
        </p:blipFill>
        <p:spPr>
          <a:xfrm>
            <a:off x="1263725" y="246974"/>
            <a:ext cx="6616550" cy="4409950"/>
          </a:xfrm>
          <a:prstGeom prst="rect">
            <a:avLst/>
          </a:prstGeom>
          <a:noFill/>
          <a:ln>
            <a:noFill/>
          </a:ln>
        </p:spPr>
      </p:pic>
      <p:sp>
        <p:nvSpPr>
          <p:cNvPr id="623" name="Google Shape;623;p45"/>
          <p:cNvSpPr txBox="1"/>
          <p:nvPr>
            <p:ph idx="1" type="body"/>
          </p:nvPr>
        </p:nvSpPr>
        <p:spPr>
          <a:xfrm>
            <a:off x="494625" y="4674325"/>
            <a:ext cx="6936000" cy="523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Data Sharing and good data management are part of good scientific practice. Image from CDC.</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pic>
        <p:nvPicPr>
          <p:cNvPr id="628" name="Google Shape;628;p46"/>
          <p:cNvPicPr preferRelativeResize="0"/>
          <p:nvPr/>
        </p:nvPicPr>
        <p:blipFill>
          <a:blip r:embed="rId3">
            <a:alphaModFix/>
          </a:blip>
          <a:stretch>
            <a:fillRect/>
          </a:stretch>
        </p:blipFill>
        <p:spPr>
          <a:xfrm>
            <a:off x="-93050" y="54913"/>
            <a:ext cx="9143999" cy="9715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pic>
        <p:nvPicPr>
          <p:cNvPr id="633" name="Google Shape;633;p47"/>
          <p:cNvPicPr preferRelativeResize="0"/>
          <p:nvPr/>
        </p:nvPicPr>
        <p:blipFill>
          <a:blip r:embed="rId3">
            <a:alphaModFix/>
          </a:blip>
          <a:stretch>
            <a:fillRect/>
          </a:stretch>
        </p:blipFill>
        <p:spPr>
          <a:xfrm>
            <a:off x="152400" y="152400"/>
            <a:ext cx="5076825" cy="933450"/>
          </a:xfrm>
          <a:prstGeom prst="rect">
            <a:avLst/>
          </a:prstGeom>
          <a:noFill/>
          <a:ln>
            <a:noFill/>
          </a:ln>
        </p:spPr>
      </p:pic>
      <p:sp>
        <p:nvSpPr>
          <p:cNvPr id="634" name="Google Shape;634;p47"/>
          <p:cNvSpPr txBox="1"/>
          <p:nvPr/>
        </p:nvSpPr>
        <p:spPr>
          <a:xfrm>
            <a:off x="1703675" y="1122825"/>
            <a:ext cx="729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Open</a:t>
            </a:r>
            <a:endParaRPr>
              <a:latin typeface="Lato"/>
              <a:ea typeface="Lato"/>
              <a:cs typeface="Lato"/>
              <a:sym typeface="Lato"/>
            </a:endParaRPr>
          </a:p>
        </p:txBody>
      </p:sp>
      <p:sp>
        <p:nvSpPr>
          <p:cNvPr id="635" name="Google Shape;635;p47"/>
          <p:cNvSpPr txBox="1"/>
          <p:nvPr/>
        </p:nvSpPr>
        <p:spPr>
          <a:xfrm>
            <a:off x="483650" y="1143525"/>
            <a:ext cx="10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Inclusive</a:t>
            </a:r>
            <a:endParaRPr>
              <a:latin typeface="Lato"/>
              <a:ea typeface="Lato"/>
              <a:cs typeface="Lato"/>
              <a:sym typeface="Lato"/>
            </a:endParaRPr>
          </a:p>
        </p:txBody>
      </p:sp>
      <p:sp>
        <p:nvSpPr>
          <p:cNvPr id="636" name="Google Shape;636;p47"/>
          <p:cNvSpPr txBox="1"/>
          <p:nvPr/>
        </p:nvSpPr>
        <p:spPr>
          <a:xfrm>
            <a:off x="2708750" y="1143525"/>
            <a:ext cx="10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Innovative</a:t>
            </a:r>
            <a:endParaRPr>
              <a:latin typeface="Lato"/>
              <a:ea typeface="Lato"/>
              <a:cs typeface="Lato"/>
              <a:sym typeface="Lato"/>
            </a:endParaRPr>
          </a:p>
        </p:txBody>
      </p:sp>
      <p:sp>
        <p:nvSpPr>
          <p:cNvPr id="637" name="Google Shape;637;p47"/>
          <p:cNvSpPr txBox="1"/>
          <p:nvPr/>
        </p:nvSpPr>
        <p:spPr>
          <a:xfrm>
            <a:off x="3813250" y="1143525"/>
            <a:ext cx="1058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Lato"/>
                <a:ea typeface="Lato"/>
                <a:cs typeface="Lato"/>
                <a:sym typeface="Lato"/>
              </a:rPr>
              <a:t>Accessible</a:t>
            </a:r>
            <a:endParaRPr>
              <a:latin typeface="Lato"/>
              <a:ea typeface="Lato"/>
              <a:cs typeface="Lato"/>
              <a:sym typeface="La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48"/>
          <p:cNvPicPr preferRelativeResize="0"/>
          <p:nvPr/>
        </p:nvPicPr>
        <p:blipFill rotWithShape="1">
          <a:blip r:embed="rId3">
            <a:alphaModFix/>
          </a:blip>
          <a:srcRect b="0" l="622" r="622" t="0"/>
          <a:stretch/>
        </p:blipFill>
        <p:spPr>
          <a:xfrm>
            <a:off x="1020543" y="0"/>
            <a:ext cx="7102913" cy="5143500"/>
          </a:xfrm>
          <a:prstGeom prst="rect">
            <a:avLst/>
          </a:prstGeom>
          <a:noFill/>
          <a:ln>
            <a:noFill/>
          </a:ln>
        </p:spPr>
      </p:pic>
      <p:sp>
        <p:nvSpPr>
          <p:cNvPr id="643" name="Google Shape;643;p48"/>
          <p:cNvSpPr txBox="1"/>
          <p:nvPr/>
        </p:nvSpPr>
        <p:spPr>
          <a:xfrm>
            <a:off x="342225" y="4826725"/>
            <a:ext cx="6936000" cy="5238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en" sz="900">
                <a:latin typeface="Lato"/>
                <a:ea typeface="Lato"/>
                <a:cs typeface="Lato"/>
                <a:sym typeface="Lato"/>
              </a:rPr>
              <a:t>The Fred Hutch DaSL DMS Helper App.</a:t>
            </a:r>
            <a:endParaRPr sz="900">
              <a:solidFill>
                <a:srgbClr val="000000"/>
              </a:solidFill>
              <a:latin typeface="Lato"/>
              <a:ea typeface="Lato"/>
              <a:cs typeface="Lato"/>
              <a:sym typeface="Lato"/>
            </a:endParaRPr>
          </a:p>
        </p:txBody>
      </p:sp>
      <p:sp>
        <p:nvSpPr>
          <p:cNvPr id="644" name="Google Shape;644;p48"/>
          <p:cNvSpPr/>
          <p:nvPr/>
        </p:nvSpPr>
        <p:spPr>
          <a:xfrm>
            <a:off x="6240325" y="407325"/>
            <a:ext cx="1637100" cy="155100"/>
          </a:xfrm>
          <a:prstGeom prst="rect">
            <a:avLst/>
          </a:prstGeom>
          <a:solidFill>
            <a:srgbClr val="1A1C21"/>
          </a:solidFill>
          <a:ln cap="flat" cmpd="sng" w="9525">
            <a:solidFill>
              <a:srgbClr val="1A1C2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000000"/>
      </a:lt1>
      <a:dk2>
        <a:srgbClr val="000000"/>
      </a:dk2>
      <a:lt2>
        <a:srgbClr val="000000"/>
      </a:lt2>
      <a:accent1>
        <a:srgbClr val="1B365D"/>
      </a:accent1>
      <a:accent2>
        <a:srgbClr val="00C1D5"/>
      </a:accent2>
      <a:accent3>
        <a:srgbClr val="FFB500"/>
      </a:accent3>
      <a:accent4>
        <a:srgbClr val="AA4AC4"/>
      </a:accent4>
      <a:accent5>
        <a:srgbClr val="0A799A"/>
      </a:accent5>
      <a:accent6>
        <a:srgbClr val="F4F4F4"/>
      </a:accent6>
      <a:hlink>
        <a:srgbClr val="00C1D5"/>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